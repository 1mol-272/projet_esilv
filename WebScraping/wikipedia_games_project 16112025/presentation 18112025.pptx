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18"/>
  </p:notesMasterIdLst>
  <p:sldIdLst>
    <p:sldId id="263" r:id="rId3"/>
    <p:sldId id="311" r:id="rId4"/>
    <p:sldId id="312" r:id="rId5"/>
    <p:sldId id="303" r:id="rId6"/>
    <p:sldId id="313" r:id="rId7"/>
    <p:sldId id="314" r:id="rId8"/>
    <p:sldId id="315" r:id="rId9"/>
    <p:sldId id="323" r:id="rId10"/>
    <p:sldId id="317" r:id="rId11"/>
    <p:sldId id="318" r:id="rId12"/>
    <p:sldId id="319" r:id="rId13"/>
    <p:sldId id="320" r:id="rId14"/>
    <p:sldId id="321" r:id="rId15"/>
    <p:sldId id="322" r:id="rId16"/>
    <p:sldId id="29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C0C8"/>
    <a:srgbClr val="64A2A4"/>
    <a:srgbClr val="FAECC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2" autoAdjust="0"/>
    <p:restoredTop sz="73373" autoAdjust="0"/>
  </p:normalViewPr>
  <p:slideViewPr>
    <p:cSldViewPr showGuides="1">
      <p:cViewPr varScale="1">
        <p:scale>
          <a:sx n="83" d="100"/>
          <a:sy n="83" d="100"/>
        </p:scale>
        <p:origin x="1080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4" d="100"/>
        <a:sy n="74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F1273-79C6-4976-8837-C45C5794DA9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F419F-3507-4FD5-9BC4-DE30B6D96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90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F419F-3507-4FD5-9BC4-DE30B6D960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720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F419F-3507-4FD5-9BC4-DE30B6D9608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59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F419F-3507-4FD5-9BC4-DE30B6D9608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833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32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3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11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 userDrawn="1"/>
        </p:nvSpPr>
        <p:spPr>
          <a:xfrm>
            <a:off x="11634693" y="6155576"/>
            <a:ext cx="557307" cy="692696"/>
          </a:xfrm>
          <a:custGeom>
            <a:avLst/>
            <a:gdLst>
              <a:gd name="connsiteX0" fmla="*/ 0 w 476671"/>
              <a:gd name="connsiteY0" fmla="*/ 1449405 h 1449405"/>
              <a:gd name="connsiteX1" fmla="*/ 476671 w 476671"/>
              <a:gd name="connsiteY1" fmla="*/ 1449405 h 1449405"/>
              <a:gd name="connsiteX2" fmla="*/ 476671 w 476671"/>
              <a:gd name="connsiteY2" fmla="*/ 0 h 1449405"/>
              <a:gd name="connsiteX3" fmla="*/ 449936 w 476671"/>
              <a:gd name="connsiteY3" fmla="*/ 24716 h 1449405"/>
              <a:gd name="connsiteX4" fmla="*/ 228159 w 476671"/>
              <a:gd name="connsiteY4" fmla="*/ 697296 h 1449405"/>
              <a:gd name="connsiteX5" fmla="*/ 0 w 476671"/>
              <a:gd name="connsiteY5" fmla="*/ 1449405 h 144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671" h="1449405">
                <a:moveTo>
                  <a:pt x="0" y="1449405"/>
                </a:moveTo>
                <a:lnTo>
                  <a:pt x="476671" y="1449405"/>
                </a:lnTo>
                <a:lnTo>
                  <a:pt x="476671" y="0"/>
                </a:lnTo>
                <a:lnTo>
                  <a:pt x="449936" y="24716"/>
                </a:lnTo>
                <a:cubicBezTo>
                  <a:pt x="252257" y="227633"/>
                  <a:pt x="212026" y="499594"/>
                  <a:pt x="228159" y="697296"/>
                </a:cubicBezTo>
                <a:cubicBezTo>
                  <a:pt x="251626" y="984864"/>
                  <a:pt x="296554" y="1182099"/>
                  <a:pt x="0" y="1449405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/>
        </p:nvSpPr>
        <p:spPr>
          <a:xfrm flipH="1" flipV="1">
            <a:off x="-5923" y="0"/>
            <a:ext cx="557307" cy="692696"/>
          </a:xfrm>
          <a:custGeom>
            <a:avLst/>
            <a:gdLst>
              <a:gd name="connsiteX0" fmla="*/ 0 w 476671"/>
              <a:gd name="connsiteY0" fmla="*/ 1449405 h 1449405"/>
              <a:gd name="connsiteX1" fmla="*/ 476671 w 476671"/>
              <a:gd name="connsiteY1" fmla="*/ 1449405 h 1449405"/>
              <a:gd name="connsiteX2" fmla="*/ 476671 w 476671"/>
              <a:gd name="connsiteY2" fmla="*/ 0 h 1449405"/>
              <a:gd name="connsiteX3" fmla="*/ 449936 w 476671"/>
              <a:gd name="connsiteY3" fmla="*/ 24716 h 1449405"/>
              <a:gd name="connsiteX4" fmla="*/ 228159 w 476671"/>
              <a:gd name="connsiteY4" fmla="*/ 697296 h 1449405"/>
              <a:gd name="connsiteX5" fmla="*/ 0 w 476671"/>
              <a:gd name="connsiteY5" fmla="*/ 1449405 h 144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671" h="1449405">
                <a:moveTo>
                  <a:pt x="0" y="1449405"/>
                </a:moveTo>
                <a:lnTo>
                  <a:pt x="476671" y="1449405"/>
                </a:lnTo>
                <a:lnTo>
                  <a:pt x="476671" y="0"/>
                </a:lnTo>
                <a:lnTo>
                  <a:pt x="449936" y="24716"/>
                </a:lnTo>
                <a:cubicBezTo>
                  <a:pt x="252257" y="227633"/>
                  <a:pt x="212026" y="499594"/>
                  <a:pt x="228159" y="697296"/>
                </a:cubicBezTo>
                <a:cubicBezTo>
                  <a:pt x="251626" y="984864"/>
                  <a:pt x="296554" y="1182099"/>
                  <a:pt x="0" y="1449405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rot="16200000" flipV="1">
            <a:off x="361394" y="-361393"/>
            <a:ext cx="476671" cy="1199456"/>
          </a:xfrm>
          <a:custGeom>
            <a:avLst/>
            <a:gdLst>
              <a:gd name="connsiteX0" fmla="*/ 0 w 476671"/>
              <a:gd name="connsiteY0" fmla="*/ 1449405 h 1449405"/>
              <a:gd name="connsiteX1" fmla="*/ 476671 w 476671"/>
              <a:gd name="connsiteY1" fmla="*/ 1449405 h 1449405"/>
              <a:gd name="connsiteX2" fmla="*/ 476671 w 476671"/>
              <a:gd name="connsiteY2" fmla="*/ 0 h 1449405"/>
              <a:gd name="connsiteX3" fmla="*/ 449936 w 476671"/>
              <a:gd name="connsiteY3" fmla="*/ 24716 h 1449405"/>
              <a:gd name="connsiteX4" fmla="*/ 228159 w 476671"/>
              <a:gd name="connsiteY4" fmla="*/ 697296 h 1449405"/>
              <a:gd name="connsiteX5" fmla="*/ 0 w 476671"/>
              <a:gd name="connsiteY5" fmla="*/ 1449405 h 144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671" h="1449405">
                <a:moveTo>
                  <a:pt x="0" y="1449405"/>
                </a:moveTo>
                <a:lnTo>
                  <a:pt x="476671" y="1449405"/>
                </a:lnTo>
                <a:lnTo>
                  <a:pt x="476671" y="0"/>
                </a:lnTo>
                <a:lnTo>
                  <a:pt x="449936" y="24716"/>
                </a:lnTo>
                <a:cubicBezTo>
                  <a:pt x="252257" y="227633"/>
                  <a:pt x="212026" y="499594"/>
                  <a:pt x="228159" y="697296"/>
                </a:cubicBezTo>
                <a:cubicBezTo>
                  <a:pt x="251626" y="984864"/>
                  <a:pt x="296554" y="1182099"/>
                  <a:pt x="0" y="1449405"/>
                </a:cubicBez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10992544" y="6353821"/>
            <a:ext cx="1199456" cy="504181"/>
            <a:chOff x="10992544" y="6353819"/>
            <a:chExt cx="1199456" cy="504181"/>
          </a:xfrm>
        </p:grpSpPr>
        <p:grpSp>
          <p:nvGrpSpPr>
            <p:cNvPr id="24" name="组合 23"/>
            <p:cNvGrpSpPr/>
            <p:nvPr/>
          </p:nvGrpSpPr>
          <p:grpSpPr>
            <a:xfrm>
              <a:off x="10992544" y="6381329"/>
              <a:ext cx="1199456" cy="476671"/>
              <a:chOff x="10992544" y="6381329"/>
              <a:chExt cx="1199456" cy="476671"/>
            </a:xfrm>
          </p:grpSpPr>
          <p:sp>
            <p:nvSpPr>
              <p:cNvPr id="27" name="任意多边形 26"/>
              <p:cNvSpPr/>
              <p:nvPr/>
            </p:nvSpPr>
            <p:spPr>
              <a:xfrm rot="16200000" flipH="1">
                <a:off x="11353936" y="6019937"/>
                <a:ext cx="476671" cy="1199456"/>
              </a:xfrm>
              <a:custGeom>
                <a:avLst/>
                <a:gdLst>
                  <a:gd name="connsiteX0" fmla="*/ 0 w 476671"/>
                  <a:gd name="connsiteY0" fmla="*/ 1449405 h 1449405"/>
                  <a:gd name="connsiteX1" fmla="*/ 476671 w 476671"/>
                  <a:gd name="connsiteY1" fmla="*/ 1449405 h 1449405"/>
                  <a:gd name="connsiteX2" fmla="*/ 476671 w 476671"/>
                  <a:gd name="connsiteY2" fmla="*/ 0 h 1449405"/>
                  <a:gd name="connsiteX3" fmla="*/ 449936 w 476671"/>
                  <a:gd name="connsiteY3" fmla="*/ 24716 h 1449405"/>
                  <a:gd name="connsiteX4" fmla="*/ 228159 w 476671"/>
                  <a:gd name="connsiteY4" fmla="*/ 697296 h 1449405"/>
                  <a:gd name="connsiteX5" fmla="*/ 0 w 476671"/>
                  <a:gd name="connsiteY5" fmla="*/ 1449405 h 1449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671" h="1449405">
                    <a:moveTo>
                      <a:pt x="0" y="1449405"/>
                    </a:moveTo>
                    <a:lnTo>
                      <a:pt x="476671" y="1449405"/>
                    </a:lnTo>
                    <a:lnTo>
                      <a:pt x="476671" y="0"/>
                    </a:lnTo>
                    <a:lnTo>
                      <a:pt x="449936" y="24716"/>
                    </a:lnTo>
                    <a:cubicBezTo>
                      <a:pt x="252257" y="227633"/>
                      <a:pt x="212026" y="499594"/>
                      <a:pt x="228159" y="697296"/>
                    </a:cubicBezTo>
                    <a:cubicBezTo>
                      <a:pt x="251626" y="984864"/>
                      <a:pt x="296554" y="1182099"/>
                      <a:pt x="0" y="1449405"/>
                    </a:cubicBezTo>
                    <a:close/>
                  </a:path>
                </a:pathLst>
              </a:custGeom>
              <a:solidFill>
                <a:srgbClr val="64A2A4"/>
              </a:solidFill>
              <a:ln>
                <a:noFill/>
              </a:ln>
              <a:effectLst>
                <a:outerShdw blurRad="190500" dist="63500" dir="13500000" algn="b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11424592" y="6548494"/>
                <a:ext cx="144016" cy="144016"/>
              </a:xfrm>
              <a:prstGeom prst="ellipse">
                <a:avLst/>
              </a:prstGeom>
              <a:solidFill>
                <a:srgbClr val="FAECCA"/>
              </a:solidFill>
              <a:ln>
                <a:noFill/>
              </a:ln>
              <a:effectLst>
                <a:outerShdw blurRad="101600" dist="38100" dir="13500000" algn="b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椭圆 25"/>
            <p:cNvSpPr/>
            <p:nvPr/>
          </p:nvSpPr>
          <p:spPr>
            <a:xfrm>
              <a:off x="11716971" y="6353819"/>
              <a:ext cx="87248" cy="87248"/>
            </a:xfrm>
            <a:prstGeom prst="ellipse">
              <a:avLst/>
            </a:prstGeom>
            <a:solidFill>
              <a:srgbClr val="83C0C8"/>
            </a:solidFill>
            <a:ln>
              <a:noFill/>
            </a:ln>
            <a:effectLst>
              <a:outerShdw blurRad="101600" dist="38100" dir="13500000" algn="b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椭圆 13"/>
          <p:cNvSpPr/>
          <p:nvPr userDrawn="1"/>
        </p:nvSpPr>
        <p:spPr>
          <a:xfrm>
            <a:off x="623392" y="177902"/>
            <a:ext cx="144016" cy="144016"/>
          </a:xfrm>
          <a:prstGeom prst="ellipse">
            <a:avLst/>
          </a:prstGeom>
          <a:solidFill>
            <a:srgbClr val="FAECCA"/>
          </a:solidFill>
          <a:ln>
            <a:noFill/>
          </a:ln>
          <a:effectLst>
            <a:outerShdw blurRad="101600" dist="381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372672" y="466944"/>
            <a:ext cx="87248" cy="87248"/>
          </a:xfrm>
          <a:prstGeom prst="ellipse">
            <a:avLst/>
          </a:prstGeom>
          <a:solidFill>
            <a:srgbClr val="83C0C8"/>
          </a:solidFill>
          <a:ln>
            <a:noFill/>
          </a:ln>
          <a:effectLst>
            <a:outerShdw blurRad="101600" dist="381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12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639729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528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2025/11/18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6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2025/11/18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485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54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"/>
            <a:ext cx="12192000" cy="6857999"/>
          </a:xfrm>
          <a:prstGeom prst="rect">
            <a:avLst/>
          </a:prstGeom>
          <a:solidFill>
            <a:srgbClr val="F2F2F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04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0" r:id="rId3"/>
    <p:sldLayoutId id="2147483664" r:id="rId4"/>
    <p:sldLayoutId id="214748366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6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807684" y="2198537"/>
            <a:ext cx="107519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b="1"/>
              <a:t>Best-selling Video Games Analysis</a:t>
            </a:r>
            <a:endParaRPr lang="zh-CN" altLang="en-US" sz="13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101600" dist="38100" dir="2700000" algn="tl">
                  <a:srgbClr val="000000">
                    <a:alpha val="1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2" name="Rectangle 3"/>
          <p:cNvSpPr>
            <a:spLocks/>
          </p:cNvSpPr>
          <p:nvPr/>
        </p:nvSpPr>
        <p:spPr bwMode="auto">
          <a:xfrm>
            <a:off x="649001" y="4373480"/>
            <a:ext cx="5534636" cy="950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Helvetica" panose="020B0604020202020204" pitchFamily="34" charset="0"/>
              </a:rPr>
              <a:t>Mis </a:t>
            </a:r>
            <a:r>
              <a:rPr lang="fr-CA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Helvetica" panose="020B0604020202020204" pitchFamily="34" charset="0"/>
              </a:rPr>
              <a:t>à jour: </a:t>
            </a: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Helvetica" panose="020B0604020202020204" pitchFamily="34" charset="0"/>
              </a:rPr>
              <a:t>16.11.2025</a:t>
            </a:r>
          </a:p>
          <a:p>
            <a:pPr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Web Scraping &amp; Data Processing</a:t>
            </a:r>
            <a:endParaRPr lang="zh-CN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  <a:sym typeface="Helvetica" panose="020B0604020202020204" pitchFamily="34" charset="0"/>
            </a:endParaRPr>
          </a:p>
        </p:txBody>
      </p:sp>
      <p:sp>
        <p:nvSpPr>
          <p:cNvPr id="17" name="student-graduation-cap-shape_52041"/>
          <p:cNvSpPr>
            <a:spLocks noChangeAspect="1"/>
          </p:cNvSpPr>
          <p:nvPr/>
        </p:nvSpPr>
        <p:spPr bwMode="auto">
          <a:xfrm>
            <a:off x="768001" y="5164301"/>
            <a:ext cx="118647" cy="122697"/>
          </a:xfrm>
          <a:custGeom>
            <a:avLst/>
            <a:gdLst>
              <a:gd name="connsiteX0" fmla="*/ 233363 w 325438"/>
              <a:gd name="connsiteY0" fmla="*/ 249238 h 336550"/>
              <a:gd name="connsiteX1" fmla="*/ 279401 w 325438"/>
              <a:gd name="connsiteY1" fmla="*/ 249238 h 336550"/>
              <a:gd name="connsiteX2" fmla="*/ 279401 w 325438"/>
              <a:gd name="connsiteY2" fmla="*/ 290513 h 336550"/>
              <a:gd name="connsiteX3" fmla="*/ 233363 w 325438"/>
              <a:gd name="connsiteY3" fmla="*/ 290513 h 336550"/>
              <a:gd name="connsiteX4" fmla="*/ 171450 w 325438"/>
              <a:gd name="connsiteY4" fmla="*/ 249238 h 336550"/>
              <a:gd name="connsiteX5" fmla="*/ 217488 w 325438"/>
              <a:gd name="connsiteY5" fmla="*/ 249238 h 336550"/>
              <a:gd name="connsiteX6" fmla="*/ 217488 w 325438"/>
              <a:gd name="connsiteY6" fmla="*/ 290513 h 336550"/>
              <a:gd name="connsiteX7" fmla="*/ 171450 w 325438"/>
              <a:gd name="connsiteY7" fmla="*/ 290513 h 336550"/>
              <a:gd name="connsiteX8" fmla="*/ 107950 w 325438"/>
              <a:gd name="connsiteY8" fmla="*/ 249238 h 336550"/>
              <a:gd name="connsiteX9" fmla="*/ 155575 w 325438"/>
              <a:gd name="connsiteY9" fmla="*/ 249238 h 336550"/>
              <a:gd name="connsiteX10" fmla="*/ 155575 w 325438"/>
              <a:gd name="connsiteY10" fmla="*/ 290513 h 336550"/>
              <a:gd name="connsiteX11" fmla="*/ 107950 w 325438"/>
              <a:gd name="connsiteY11" fmla="*/ 290513 h 336550"/>
              <a:gd name="connsiteX12" fmla="*/ 46038 w 325438"/>
              <a:gd name="connsiteY12" fmla="*/ 249238 h 336550"/>
              <a:gd name="connsiteX13" fmla="*/ 93663 w 325438"/>
              <a:gd name="connsiteY13" fmla="*/ 249238 h 336550"/>
              <a:gd name="connsiteX14" fmla="*/ 93663 w 325438"/>
              <a:gd name="connsiteY14" fmla="*/ 290513 h 336550"/>
              <a:gd name="connsiteX15" fmla="*/ 46038 w 325438"/>
              <a:gd name="connsiteY15" fmla="*/ 290513 h 336550"/>
              <a:gd name="connsiteX16" fmla="*/ 233363 w 325438"/>
              <a:gd name="connsiteY16" fmla="*/ 195263 h 336550"/>
              <a:gd name="connsiteX17" fmla="*/ 279401 w 325438"/>
              <a:gd name="connsiteY17" fmla="*/ 195263 h 336550"/>
              <a:gd name="connsiteX18" fmla="*/ 279401 w 325438"/>
              <a:gd name="connsiteY18" fmla="*/ 234951 h 336550"/>
              <a:gd name="connsiteX19" fmla="*/ 233363 w 325438"/>
              <a:gd name="connsiteY19" fmla="*/ 234951 h 336550"/>
              <a:gd name="connsiteX20" fmla="*/ 171450 w 325438"/>
              <a:gd name="connsiteY20" fmla="*/ 195263 h 336550"/>
              <a:gd name="connsiteX21" fmla="*/ 217488 w 325438"/>
              <a:gd name="connsiteY21" fmla="*/ 195263 h 336550"/>
              <a:gd name="connsiteX22" fmla="*/ 217488 w 325438"/>
              <a:gd name="connsiteY22" fmla="*/ 234951 h 336550"/>
              <a:gd name="connsiteX23" fmla="*/ 171450 w 325438"/>
              <a:gd name="connsiteY23" fmla="*/ 234951 h 336550"/>
              <a:gd name="connsiteX24" fmla="*/ 107950 w 325438"/>
              <a:gd name="connsiteY24" fmla="*/ 195263 h 336550"/>
              <a:gd name="connsiteX25" fmla="*/ 155575 w 325438"/>
              <a:gd name="connsiteY25" fmla="*/ 195263 h 336550"/>
              <a:gd name="connsiteX26" fmla="*/ 155575 w 325438"/>
              <a:gd name="connsiteY26" fmla="*/ 234951 h 336550"/>
              <a:gd name="connsiteX27" fmla="*/ 107950 w 325438"/>
              <a:gd name="connsiteY27" fmla="*/ 234951 h 336550"/>
              <a:gd name="connsiteX28" fmla="*/ 46038 w 325438"/>
              <a:gd name="connsiteY28" fmla="*/ 195263 h 336550"/>
              <a:gd name="connsiteX29" fmla="*/ 93663 w 325438"/>
              <a:gd name="connsiteY29" fmla="*/ 195263 h 336550"/>
              <a:gd name="connsiteX30" fmla="*/ 93663 w 325438"/>
              <a:gd name="connsiteY30" fmla="*/ 234951 h 336550"/>
              <a:gd name="connsiteX31" fmla="*/ 46038 w 325438"/>
              <a:gd name="connsiteY31" fmla="*/ 234951 h 336550"/>
              <a:gd name="connsiteX32" fmla="*/ 233363 w 325438"/>
              <a:gd name="connsiteY32" fmla="*/ 139700 h 336550"/>
              <a:gd name="connsiteX33" fmla="*/ 279401 w 325438"/>
              <a:gd name="connsiteY33" fmla="*/ 139700 h 336550"/>
              <a:gd name="connsiteX34" fmla="*/ 279401 w 325438"/>
              <a:gd name="connsiteY34" fmla="*/ 180975 h 336550"/>
              <a:gd name="connsiteX35" fmla="*/ 233363 w 325438"/>
              <a:gd name="connsiteY35" fmla="*/ 180975 h 336550"/>
              <a:gd name="connsiteX36" fmla="*/ 171450 w 325438"/>
              <a:gd name="connsiteY36" fmla="*/ 139700 h 336550"/>
              <a:gd name="connsiteX37" fmla="*/ 217488 w 325438"/>
              <a:gd name="connsiteY37" fmla="*/ 139700 h 336550"/>
              <a:gd name="connsiteX38" fmla="*/ 217488 w 325438"/>
              <a:gd name="connsiteY38" fmla="*/ 180975 h 336550"/>
              <a:gd name="connsiteX39" fmla="*/ 171450 w 325438"/>
              <a:gd name="connsiteY39" fmla="*/ 180975 h 336550"/>
              <a:gd name="connsiteX40" fmla="*/ 107950 w 325438"/>
              <a:gd name="connsiteY40" fmla="*/ 139700 h 336550"/>
              <a:gd name="connsiteX41" fmla="*/ 155575 w 325438"/>
              <a:gd name="connsiteY41" fmla="*/ 139700 h 336550"/>
              <a:gd name="connsiteX42" fmla="*/ 155575 w 325438"/>
              <a:gd name="connsiteY42" fmla="*/ 180975 h 336550"/>
              <a:gd name="connsiteX43" fmla="*/ 107950 w 325438"/>
              <a:gd name="connsiteY43" fmla="*/ 180975 h 336550"/>
              <a:gd name="connsiteX44" fmla="*/ 49167 w 325438"/>
              <a:gd name="connsiteY44" fmla="*/ 38100 h 336550"/>
              <a:gd name="connsiteX45" fmla="*/ 25400 w 325438"/>
              <a:gd name="connsiteY45" fmla="*/ 61753 h 336550"/>
              <a:gd name="connsiteX46" fmla="*/ 25400 w 325438"/>
              <a:gd name="connsiteY46" fmla="*/ 289085 h 336550"/>
              <a:gd name="connsiteX47" fmla="*/ 49167 w 325438"/>
              <a:gd name="connsiteY47" fmla="*/ 312738 h 336550"/>
              <a:gd name="connsiteX48" fmla="*/ 276271 w 325438"/>
              <a:gd name="connsiteY48" fmla="*/ 312738 h 336550"/>
              <a:gd name="connsiteX49" fmla="*/ 300038 w 325438"/>
              <a:gd name="connsiteY49" fmla="*/ 289085 h 336550"/>
              <a:gd name="connsiteX50" fmla="*/ 300038 w 325438"/>
              <a:gd name="connsiteY50" fmla="*/ 61753 h 336550"/>
              <a:gd name="connsiteX51" fmla="*/ 276271 w 325438"/>
              <a:gd name="connsiteY51" fmla="*/ 38100 h 336550"/>
              <a:gd name="connsiteX52" fmla="*/ 269669 w 325438"/>
              <a:gd name="connsiteY52" fmla="*/ 38100 h 336550"/>
              <a:gd name="connsiteX53" fmla="*/ 269669 w 325438"/>
              <a:gd name="connsiteY53" fmla="*/ 63067 h 336550"/>
              <a:gd name="connsiteX54" fmla="*/ 276271 w 325438"/>
              <a:gd name="connsiteY54" fmla="*/ 74894 h 336550"/>
              <a:gd name="connsiteX55" fmla="*/ 260427 w 325438"/>
              <a:gd name="connsiteY55" fmla="*/ 90662 h 336550"/>
              <a:gd name="connsiteX56" fmla="*/ 244582 w 325438"/>
              <a:gd name="connsiteY56" fmla="*/ 74894 h 336550"/>
              <a:gd name="connsiteX57" fmla="*/ 249864 w 325438"/>
              <a:gd name="connsiteY57" fmla="*/ 63067 h 336550"/>
              <a:gd name="connsiteX58" fmla="*/ 249864 w 325438"/>
              <a:gd name="connsiteY58" fmla="*/ 38100 h 336550"/>
              <a:gd name="connsiteX59" fmla="*/ 231379 w 325438"/>
              <a:gd name="connsiteY59" fmla="*/ 38100 h 336550"/>
              <a:gd name="connsiteX60" fmla="*/ 231379 w 325438"/>
              <a:gd name="connsiteY60" fmla="*/ 63067 h 336550"/>
              <a:gd name="connsiteX61" fmla="*/ 236660 w 325438"/>
              <a:gd name="connsiteY61" fmla="*/ 74894 h 336550"/>
              <a:gd name="connsiteX62" fmla="*/ 220816 w 325438"/>
              <a:gd name="connsiteY62" fmla="*/ 90662 h 336550"/>
              <a:gd name="connsiteX63" fmla="*/ 204971 w 325438"/>
              <a:gd name="connsiteY63" fmla="*/ 74894 h 336550"/>
              <a:gd name="connsiteX64" fmla="*/ 210253 w 325438"/>
              <a:gd name="connsiteY64" fmla="*/ 63067 h 336550"/>
              <a:gd name="connsiteX65" fmla="*/ 210253 w 325438"/>
              <a:gd name="connsiteY65" fmla="*/ 38100 h 336550"/>
              <a:gd name="connsiteX66" fmla="*/ 191767 w 325438"/>
              <a:gd name="connsiteY66" fmla="*/ 38100 h 336550"/>
              <a:gd name="connsiteX67" fmla="*/ 191767 w 325438"/>
              <a:gd name="connsiteY67" fmla="*/ 63067 h 336550"/>
              <a:gd name="connsiteX68" fmla="*/ 198369 w 325438"/>
              <a:gd name="connsiteY68" fmla="*/ 74894 h 336550"/>
              <a:gd name="connsiteX69" fmla="*/ 182525 w 325438"/>
              <a:gd name="connsiteY69" fmla="*/ 90662 h 336550"/>
              <a:gd name="connsiteX70" fmla="*/ 166680 w 325438"/>
              <a:gd name="connsiteY70" fmla="*/ 74894 h 336550"/>
              <a:gd name="connsiteX71" fmla="*/ 171962 w 325438"/>
              <a:gd name="connsiteY71" fmla="*/ 63067 h 336550"/>
              <a:gd name="connsiteX72" fmla="*/ 171962 w 325438"/>
              <a:gd name="connsiteY72" fmla="*/ 38100 h 336550"/>
              <a:gd name="connsiteX73" fmla="*/ 153476 w 325438"/>
              <a:gd name="connsiteY73" fmla="*/ 38100 h 336550"/>
              <a:gd name="connsiteX74" fmla="*/ 153476 w 325438"/>
              <a:gd name="connsiteY74" fmla="*/ 63067 h 336550"/>
              <a:gd name="connsiteX75" fmla="*/ 158758 w 325438"/>
              <a:gd name="connsiteY75" fmla="*/ 74894 h 336550"/>
              <a:gd name="connsiteX76" fmla="*/ 142913 w 325438"/>
              <a:gd name="connsiteY76" fmla="*/ 90662 h 336550"/>
              <a:gd name="connsiteX77" fmla="*/ 127069 w 325438"/>
              <a:gd name="connsiteY77" fmla="*/ 74894 h 336550"/>
              <a:gd name="connsiteX78" fmla="*/ 133671 w 325438"/>
              <a:gd name="connsiteY78" fmla="*/ 63067 h 336550"/>
              <a:gd name="connsiteX79" fmla="*/ 133671 w 325438"/>
              <a:gd name="connsiteY79" fmla="*/ 38100 h 336550"/>
              <a:gd name="connsiteX80" fmla="*/ 115186 w 325438"/>
              <a:gd name="connsiteY80" fmla="*/ 38100 h 336550"/>
              <a:gd name="connsiteX81" fmla="*/ 115186 w 325438"/>
              <a:gd name="connsiteY81" fmla="*/ 63067 h 336550"/>
              <a:gd name="connsiteX82" fmla="*/ 120467 w 325438"/>
              <a:gd name="connsiteY82" fmla="*/ 74894 h 336550"/>
              <a:gd name="connsiteX83" fmla="*/ 104623 w 325438"/>
              <a:gd name="connsiteY83" fmla="*/ 90662 h 336550"/>
              <a:gd name="connsiteX84" fmla="*/ 88778 w 325438"/>
              <a:gd name="connsiteY84" fmla="*/ 74894 h 336550"/>
              <a:gd name="connsiteX85" fmla="*/ 94060 w 325438"/>
              <a:gd name="connsiteY85" fmla="*/ 63067 h 336550"/>
              <a:gd name="connsiteX86" fmla="*/ 94060 w 325438"/>
              <a:gd name="connsiteY86" fmla="*/ 38100 h 336550"/>
              <a:gd name="connsiteX87" fmla="*/ 75574 w 325438"/>
              <a:gd name="connsiteY87" fmla="*/ 38100 h 336550"/>
              <a:gd name="connsiteX88" fmla="*/ 75574 w 325438"/>
              <a:gd name="connsiteY88" fmla="*/ 63067 h 336550"/>
              <a:gd name="connsiteX89" fmla="*/ 80856 w 325438"/>
              <a:gd name="connsiteY89" fmla="*/ 74894 h 336550"/>
              <a:gd name="connsiteX90" fmla="*/ 65011 w 325438"/>
              <a:gd name="connsiteY90" fmla="*/ 90662 h 336550"/>
              <a:gd name="connsiteX91" fmla="*/ 49167 w 325438"/>
              <a:gd name="connsiteY91" fmla="*/ 74894 h 336550"/>
              <a:gd name="connsiteX92" fmla="*/ 55769 w 325438"/>
              <a:gd name="connsiteY92" fmla="*/ 63067 h 336550"/>
              <a:gd name="connsiteX93" fmla="*/ 55769 w 325438"/>
              <a:gd name="connsiteY93" fmla="*/ 38100 h 336550"/>
              <a:gd name="connsiteX94" fmla="*/ 49167 w 325438"/>
              <a:gd name="connsiteY94" fmla="*/ 38100 h 336550"/>
              <a:gd name="connsiteX95" fmla="*/ 65315 w 325438"/>
              <a:gd name="connsiteY95" fmla="*/ 4763 h 336550"/>
              <a:gd name="connsiteX96" fmla="*/ 61913 w 325438"/>
              <a:gd name="connsiteY96" fmla="*/ 10110 h 336550"/>
              <a:gd name="connsiteX97" fmla="*/ 61913 w 325438"/>
              <a:gd name="connsiteY97" fmla="*/ 75616 h 336550"/>
              <a:gd name="connsiteX98" fmla="*/ 65315 w 325438"/>
              <a:gd name="connsiteY98" fmla="*/ 80963 h 336550"/>
              <a:gd name="connsiteX99" fmla="*/ 69851 w 325438"/>
              <a:gd name="connsiteY99" fmla="*/ 75616 h 336550"/>
              <a:gd name="connsiteX100" fmla="*/ 69851 w 325438"/>
              <a:gd name="connsiteY100" fmla="*/ 10110 h 336550"/>
              <a:gd name="connsiteX101" fmla="*/ 65315 w 325438"/>
              <a:gd name="connsiteY101" fmla="*/ 4763 h 336550"/>
              <a:gd name="connsiteX102" fmla="*/ 104776 w 325438"/>
              <a:gd name="connsiteY102" fmla="*/ 4763 h 336550"/>
              <a:gd name="connsiteX103" fmla="*/ 100013 w 325438"/>
              <a:gd name="connsiteY103" fmla="*/ 10110 h 336550"/>
              <a:gd name="connsiteX104" fmla="*/ 100013 w 325438"/>
              <a:gd name="connsiteY104" fmla="*/ 75616 h 336550"/>
              <a:gd name="connsiteX105" fmla="*/ 104776 w 325438"/>
              <a:gd name="connsiteY105" fmla="*/ 80963 h 336550"/>
              <a:gd name="connsiteX106" fmla="*/ 109538 w 325438"/>
              <a:gd name="connsiteY106" fmla="*/ 75616 h 336550"/>
              <a:gd name="connsiteX107" fmla="*/ 109538 w 325438"/>
              <a:gd name="connsiteY107" fmla="*/ 10110 h 336550"/>
              <a:gd name="connsiteX108" fmla="*/ 104776 w 325438"/>
              <a:gd name="connsiteY108" fmla="*/ 4763 h 336550"/>
              <a:gd name="connsiteX109" fmla="*/ 142876 w 325438"/>
              <a:gd name="connsiteY109" fmla="*/ 4763 h 336550"/>
              <a:gd name="connsiteX110" fmla="*/ 138113 w 325438"/>
              <a:gd name="connsiteY110" fmla="*/ 10110 h 336550"/>
              <a:gd name="connsiteX111" fmla="*/ 138113 w 325438"/>
              <a:gd name="connsiteY111" fmla="*/ 75616 h 336550"/>
              <a:gd name="connsiteX112" fmla="*/ 142876 w 325438"/>
              <a:gd name="connsiteY112" fmla="*/ 80963 h 336550"/>
              <a:gd name="connsiteX113" fmla="*/ 147638 w 325438"/>
              <a:gd name="connsiteY113" fmla="*/ 75616 h 336550"/>
              <a:gd name="connsiteX114" fmla="*/ 147638 w 325438"/>
              <a:gd name="connsiteY114" fmla="*/ 10110 h 336550"/>
              <a:gd name="connsiteX115" fmla="*/ 142876 w 325438"/>
              <a:gd name="connsiteY115" fmla="*/ 4763 h 336550"/>
              <a:gd name="connsiteX116" fmla="*/ 182563 w 325438"/>
              <a:gd name="connsiteY116" fmla="*/ 4763 h 336550"/>
              <a:gd name="connsiteX117" fmla="*/ 177800 w 325438"/>
              <a:gd name="connsiteY117" fmla="*/ 10110 h 336550"/>
              <a:gd name="connsiteX118" fmla="*/ 177800 w 325438"/>
              <a:gd name="connsiteY118" fmla="*/ 75616 h 336550"/>
              <a:gd name="connsiteX119" fmla="*/ 182563 w 325438"/>
              <a:gd name="connsiteY119" fmla="*/ 80963 h 336550"/>
              <a:gd name="connsiteX120" fmla="*/ 187325 w 325438"/>
              <a:gd name="connsiteY120" fmla="*/ 75616 h 336550"/>
              <a:gd name="connsiteX121" fmla="*/ 187325 w 325438"/>
              <a:gd name="connsiteY121" fmla="*/ 10110 h 336550"/>
              <a:gd name="connsiteX122" fmla="*/ 182563 w 325438"/>
              <a:gd name="connsiteY122" fmla="*/ 4763 h 336550"/>
              <a:gd name="connsiteX123" fmla="*/ 220663 w 325438"/>
              <a:gd name="connsiteY123" fmla="*/ 4763 h 336550"/>
              <a:gd name="connsiteX124" fmla="*/ 215900 w 325438"/>
              <a:gd name="connsiteY124" fmla="*/ 10110 h 336550"/>
              <a:gd name="connsiteX125" fmla="*/ 215900 w 325438"/>
              <a:gd name="connsiteY125" fmla="*/ 75616 h 336550"/>
              <a:gd name="connsiteX126" fmla="*/ 220663 w 325438"/>
              <a:gd name="connsiteY126" fmla="*/ 80963 h 336550"/>
              <a:gd name="connsiteX127" fmla="*/ 225425 w 325438"/>
              <a:gd name="connsiteY127" fmla="*/ 75616 h 336550"/>
              <a:gd name="connsiteX128" fmla="*/ 225425 w 325438"/>
              <a:gd name="connsiteY128" fmla="*/ 10110 h 336550"/>
              <a:gd name="connsiteX129" fmla="*/ 220663 w 325438"/>
              <a:gd name="connsiteY129" fmla="*/ 4763 h 336550"/>
              <a:gd name="connsiteX130" fmla="*/ 260124 w 325438"/>
              <a:gd name="connsiteY130" fmla="*/ 4763 h 336550"/>
              <a:gd name="connsiteX131" fmla="*/ 255588 w 325438"/>
              <a:gd name="connsiteY131" fmla="*/ 10110 h 336550"/>
              <a:gd name="connsiteX132" fmla="*/ 255588 w 325438"/>
              <a:gd name="connsiteY132" fmla="*/ 75616 h 336550"/>
              <a:gd name="connsiteX133" fmla="*/ 260124 w 325438"/>
              <a:gd name="connsiteY133" fmla="*/ 80963 h 336550"/>
              <a:gd name="connsiteX134" fmla="*/ 263526 w 325438"/>
              <a:gd name="connsiteY134" fmla="*/ 75616 h 336550"/>
              <a:gd name="connsiteX135" fmla="*/ 263526 w 325438"/>
              <a:gd name="connsiteY135" fmla="*/ 10110 h 336550"/>
              <a:gd name="connsiteX136" fmla="*/ 260124 w 325438"/>
              <a:gd name="connsiteY136" fmla="*/ 4763 h 336550"/>
              <a:gd name="connsiteX137" fmla="*/ 64823 w 325438"/>
              <a:gd name="connsiteY137" fmla="*/ 0 h 336550"/>
              <a:gd name="connsiteX138" fmla="*/ 75406 w 325438"/>
              <a:gd name="connsiteY138" fmla="*/ 10517 h 336550"/>
              <a:gd name="connsiteX139" fmla="*/ 75406 w 325438"/>
              <a:gd name="connsiteY139" fmla="*/ 14461 h 336550"/>
              <a:gd name="connsiteX140" fmla="*/ 93927 w 325438"/>
              <a:gd name="connsiteY140" fmla="*/ 14461 h 336550"/>
              <a:gd name="connsiteX141" fmla="*/ 93927 w 325438"/>
              <a:gd name="connsiteY141" fmla="*/ 10517 h 336550"/>
              <a:gd name="connsiteX142" fmla="*/ 104511 w 325438"/>
              <a:gd name="connsiteY142" fmla="*/ 0 h 336550"/>
              <a:gd name="connsiteX143" fmla="*/ 115094 w 325438"/>
              <a:gd name="connsiteY143" fmla="*/ 10517 h 336550"/>
              <a:gd name="connsiteX144" fmla="*/ 115094 w 325438"/>
              <a:gd name="connsiteY144" fmla="*/ 14461 h 336550"/>
              <a:gd name="connsiteX145" fmla="*/ 133615 w 325438"/>
              <a:gd name="connsiteY145" fmla="*/ 14461 h 336550"/>
              <a:gd name="connsiteX146" fmla="*/ 133615 w 325438"/>
              <a:gd name="connsiteY146" fmla="*/ 10517 h 336550"/>
              <a:gd name="connsiteX147" fmla="*/ 142875 w 325438"/>
              <a:gd name="connsiteY147" fmla="*/ 0 h 336550"/>
              <a:gd name="connsiteX148" fmla="*/ 153459 w 325438"/>
              <a:gd name="connsiteY148" fmla="*/ 10517 h 336550"/>
              <a:gd name="connsiteX149" fmla="*/ 153459 w 325438"/>
              <a:gd name="connsiteY149" fmla="*/ 14461 h 336550"/>
              <a:gd name="connsiteX150" fmla="*/ 171980 w 325438"/>
              <a:gd name="connsiteY150" fmla="*/ 14461 h 336550"/>
              <a:gd name="connsiteX151" fmla="*/ 171980 w 325438"/>
              <a:gd name="connsiteY151" fmla="*/ 10517 h 336550"/>
              <a:gd name="connsiteX152" fmla="*/ 182563 w 325438"/>
              <a:gd name="connsiteY152" fmla="*/ 0 h 336550"/>
              <a:gd name="connsiteX153" fmla="*/ 191823 w 325438"/>
              <a:gd name="connsiteY153" fmla="*/ 10517 h 336550"/>
              <a:gd name="connsiteX154" fmla="*/ 191823 w 325438"/>
              <a:gd name="connsiteY154" fmla="*/ 14461 h 336550"/>
              <a:gd name="connsiteX155" fmla="*/ 210344 w 325438"/>
              <a:gd name="connsiteY155" fmla="*/ 14461 h 336550"/>
              <a:gd name="connsiteX156" fmla="*/ 210344 w 325438"/>
              <a:gd name="connsiteY156" fmla="*/ 10517 h 336550"/>
              <a:gd name="connsiteX157" fmla="*/ 220927 w 325438"/>
              <a:gd name="connsiteY157" fmla="*/ 0 h 336550"/>
              <a:gd name="connsiteX158" fmla="*/ 231511 w 325438"/>
              <a:gd name="connsiteY158" fmla="*/ 10517 h 336550"/>
              <a:gd name="connsiteX159" fmla="*/ 231511 w 325438"/>
              <a:gd name="connsiteY159" fmla="*/ 14461 h 336550"/>
              <a:gd name="connsiteX160" fmla="*/ 250032 w 325438"/>
              <a:gd name="connsiteY160" fmla="*/ 14461 h 336550"/>
              <a:gd name="connsiteX161" fmla="*/ 250032 w 325438"/>
              <a:gd name="connsiteY161" fmla="*/ 10517 h 336550"/>
              <a:gd name="connsiteX162" fmla="*/ 260615 w 325438"/>
              <a:gd name="connsiteY162" fmla="*/ 0 h 336550"/>
              <a:gd name="connsiteX163" fmla="*/ 269875 w 325438"/>
              <a:gd name="connsiteY163" fmla="*/ 10517 h 336550"/>
              <a:gd name="connsiteX164" fmla="*/ 269875 w 325438"/>
              <a:gd name="connsiteY164" fmla="*/ 14461 h 336550"/>
              <a:gd name="connsiteX165" fmla="*/ 276490 w 325438"/>
              <a:gd name="connsiteY165" fmla="*/ 14461 h 336550"/>
              <a:gd name="connsiteX166" fmla="*/ 325438 w 325438"/>
              <a:gd name="connsiteY166" fmla="*/ 61789 h 336550"/>
              <a:gd name="connsiteX167" fmla="*/ 325438 w 325438"/>
              <a:gd name="connsiteY167" fmla="*/ 289223 h 336550"/>
              <a:gd name="connsiteX168" fmla="*/ 276490 w 325438"/>
              <a:gd name="connsiteY168" fmla="*/ 336550 h 336550"/>
              <a:gd name="connsiteX169" fmla="*/ 48948 w 325438"/>
              <a:gd name="connsiteY169" fmla="*/ 336550 h 336550"/>
              <a:gd name="connsiteX170" fmla="*/ 0 w 325438"/>
              <a:gd name="connsiteY170" fmla="*/ 289223 h 336550"/>
              <a:gd name="connsiteX171" fmla="*/ 0 w 325438"/>
              <a:gd name="connsiteY171" fmla="*/ 61789 h 336550"/>
              <a:gd name="connsiteX172" fmla="*/ 48948 w 325438"/>
              <a:gd name="connsiteY172" fmla="*/ 14461 h 336550"/>
              <a:gd name="connsiteX173" fmla="*/ 55563 w 325438"/>
              <a:gd name="connsiteY173" fmla="*/ 14461 h 336550"/>
              <a:gd name="connsiteX174" fmla="*/ 55563 w 325438"/>
              <a:gd name="connsiteY174" fmla="*/ 10517 h 336550"/>
              <a:gd name="connsiteX175" fmla="*/ 64823 w 325438"/>
              <a:gd name="connsiteY175" fmla="*/ 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325438" h="336550">
                <a:moveTo>
                  <a:pt x="233363" y="249238"/>
                </a:moveTo>
                <a:lnTo>
                  <a:pt x="279401" y="249238"/>
                </a:lnTo>
                <a:lnTo>
                  <a:pt x="279401" y="290513"/>
                </a:lnTo>
                <a:lnTo>
                  <a:pt x="233363" y="290513"/>
                </a:lnTo>
                <a:close/>
                <a:moveTo>
                  <a:pt x="171450" y="249238"/>
                </a:moveTo>
                <a:lnTo>
                  <a:pt x="217488" y="249238"/>
                </a:lnTo>
                <a:lnTo>
                  <a:pt x="217488" y="290513"/>
                </a:lnTo>
                <a:lnTo>
                  <a:pt x="171450" y="290513"/>
                </a:lnTo>
                <a:close/>
                <a:moveTo>
                  <a:pt x="107950" y="249238"/>
                </a:moveTo>
                <a:lnTo>
                  <a:pt x="155575" y="249238"/>
                </a:lnTo>
                <a:lnTo>
                  <a:pt x="155575" y="290513"/>
                </a:lnTo>
                <a:lnTo>
                  <a:pt x="107950" y="290513"/>
                </a:lnTo>
                <a:close/>
                <a:moveTo>
                  <a:pt x="46038" y="249238"/>
                </a:moveTo>
                <a:lnTo>
                  <a:pt x="93663" y="249238"/>
                </a:lnTo>
                <a:lnTo>
                  <a:pt x="93663" y="290513"/>
                </a:lnTo>
                <a:lnTo>
                  <a:pt x="46038" y="290513"/>
                </a:lnTo>
                <a:close/>
                <a:moveTo>
                  <a:pt x="233363" y="195263"/>
                </a:moveTo>
                <a:lnTo>
                  <a:pt x="279401" y="195263"/>
                </a:lnTo>
                <a:lnTo>
                  <a:pt x="279401" y="234951"/>
                </a:lnTo>
                <a:lnTo>
                  <a:pt x="233363" y="234951"/>
                </a:lnTo>
                <a:close/>
                <a:moveTo>
                  <a:pt x="171450" y="195263"/>
                </a:moveTo>
                <a:lnTo>
                  <a:pt x="217488" y="195263"/>
                </a:lnTo>
                <a:lnTo>
                  <a:pt x="217488" y="234951"/>
                </a:lnTo>
                <a:lnTo>
                  <a:pt x="171450" y="234951"/>
                </a:lnTo>
                <a:close/>
                <a:moveTo>
                  <a:pt x="107950" y="195263"/>
                </a:moveTo>
                <a:lnTo>
                  <a:pt x="155575" y="195263"/>
                </a:lnTo>
                <a:lnTo>
                  <a:pt x="155575" y="234951"/>
                </a:lnTo>
                <a:lnTo>
                  <a:pt x="107950" y="234951"/>
                </a:lnTo>
                <a:close/>
                <a:moveTo>
                  <a:pt x="46038" y="195263"/>
                </a:moveTo>
                <a:lnTo>
                  <a:pt x="93663" y="195263"/>
                </a:lnTo>
                <a:lnTo>
                  <a:pt x="93663" y="234951"/>
                </a:lnTo>
                <a:lnTo>
                  <a:pt x="46038" y="234951"/>
                </a:lnTo>
                <a:close/>
                <a:moveTo>
                  <a:pt x="233363" y="139700"/>
                </a:moveTo>
                <a:lnTo>
                  <a:pt x="279401" y="139700"/>
                </a:lnTo>
                <a:lnTo>
                  <a:pt x="279401" y="180975"/>
                </a:lnTo>
                <a:lnTo>
                  <a:pt x="233363" y="180975"/>
                </a:lnTo>
                <a:close/>
                <a:moveTo>
                  <a:pt x="171450" y="139700"/>
                </a:moveTo>
                <a:lnTo>
                  <a:pt x="217488" y="139700"/>
                </a:lnTo>
                <a:lnTo>
                  <a:pt x="217488" y="180975"/>
                </a:lnTo>
                <a:lnTo>
                  <a:pt x="171450" y="180975"/>
                </a:lnTo>
                <a:close/>
                <a:moveTo>
                  <a:pt x="107950" y="139700"/>
                </a:moveTo>
                <a:lnTo>
                  <a:pt x="155575" y="139700"/>
                </a:lnTo>
                <a:lnTo>
                  <a:pt x="155575" y="180975"/>
                </a:lnTo>
                <a:lnTo>
                  <a:pt x="107950" y="180975"/>
                </a:lnTo>
                <a:close/>
                <a:moveTo>
                  <a:pt x="49167" y="38100"/>
                </a:moveTo>
                <a:cubicBezTo>
                  <a:pt x="35963" y="38100"/>
                  <a:pt x="25400" y="48613"/>
                  <a:pt x="25400" y="61753"/>
                </a:cubicBezTo>
                <a:cubicBezTo>
                  <a:pt x="25400" y="61753"/>
                  <a:pt x="25400" y="61753"/>
                  <a:pt x="25400" y="289085"/>
                </a:cubicBezTo>
                <a:cubicBezTo>
                  <a:pt x="25400" y="302226"/>
                  <a:pt x="35963" y="312738"/>
                  <a:pt x="49167" y="312738"/>
                </a:cubicBezTo>
                <a:cubicBezTo>
                  <a:pt x="49167" y="312738"/>
                  <a:pt x="49167" y="312738"/>
                  <a:pt x="276271" y="312738"/>
                </a:cubicBezTo>
                <a:cubicBezTo>
                  <a:pt x="289475" y="312738"/>
                  <a:pt x="300038" y="302226"/>
                  <a:pt x="300038" y="289085"/>
                </a:cubicBezTo>
                <a:cubicBezTo>
                  <a:pt x="300038" y="289085"/>
                  <a:pt x="300038" y="289085"/>
                  <a:pt x="300038" y="61753"/>
                </a:cubicBezTo>
                <a:cubicBezTo>
                  <a:pt x="300038" y="48613"/>
                  <a:pt x="289475" y="38100"/>
                  <a:pt x="276271" y="38100"/>
                </a:cubicBezTo>
                <a:cubicBezTo>
                  <a:pt x="276271" y="38100"/>
                  <a:pt x="276271" y="38100"/>
                  <a:pt x="269669" y="38100"/>
                </a:cubicBezTo>
                <a:cubicBezTo>
                  <a:pt x="269669" y="38100"/>
                  <a:pt x="269669" y="38100"/>
                  <a:pt x="269669" y="63067"/>
                </a:cubicBezTo>
                <a:cubicBezTo>
                  <a:pt x="273631" y="65695"/>
                  <a:pt x="276271" y="70951"/>
                  <a:pt x="276271" y="74894"/>
                </a:cubicBezTo>
                <a:cubicBezTo>
                  <a:pt x="276271" y="84092"/>
                  <a:pt x="268349" y="90662"/>
                  <a:pt x="260427" y="90662"/>
                </a:cubicBezTo>
                <a:cubicBezTo>
                  <a:pt x="251184" y="90662"/>
                  <a:pt x="244582" y="84092"/>
                  <a:pt x="244582" y="74894"/>
                </a:cubicBezTo>
                <a:cubicBezTo>
                  <a:pt x="244582" y="70951"/>
                  <a:pt x="245903" y="65695"/>
                  <a:pt x="249864" y="63067"/>
                </a:cubicBezTo>
                <a:cubicBezTo>
                  <a:pt x="249864" y="63067"/>
                  <a:pt x="249864" y="63067"/>
                  <a:pt x="249864" y="38100"/>
                </a:cubicBezTo>
                <a:cubicBezTo>
                  <a:pt x="249864" y="38100"/>
                  <a:pt x="249864" y="38100"/>
                  <a:pt x="231379" y="38100"/>
                </a:cubicBezTo>
                <a:cubicBezTo>
                  <a:pt x="231379" y="38100"/>
                  <a:pt x="231379" y="38100"/>
                  <a:pt x="231379" y="63067"/>
                </a:cubicBezTo>
                <a:cubicBezTo>
                  <a:pt x="234019" y="65695"/>
                  <a:pt x="236660" y="70951"/>
                  <a:pt x="236660" y="74894"/>
                </a:cubicBezTo>
                <a:cubicBezTo>
                  <a:pt x="236660" y="84092"/>
                  <a:pt x="230058" y="90662"/>
                  <a:pt x="220816" y="90662"/>
                </a:cubicBezTo>
                <a:cubicBezTo>
                  <a:pt x="212893" y="90662"/>
                  <a:pt x="204971" y="84092"/>
                  <a:pt x="204971" y="74894"/>
                </a:cubicBezTo>
                <a:cubicBezTo>
                  <a:pt x="204971" y="70951"/>
                  <a:pt x="207612" y="65695"/>
                  <a:pt x="210253" y="63067"/>
                </a:cubicBezTo>
                <a:cubicBezTo>
                  <a:pt x="210253" y="63067"/>
                  <a:pt x="210253" y="63067"/>
                  <a:pt x="210253" y="38100"/>
                </a:cubicBezTo>
                <a:cubicBezTo>
                  <a:pt x="210253" y="38100"/>
                  <a:pt x="210253" y="38100"/>
                  <a:pt x="191767" y="38100"/>
                </a:cubicBezTo>
                <a:cubicBezTo>
                  <a:pt x="191767" y="38100"/>
                  <a:pt x="191767" y="38100"/>
                  <a:pt x="191767" y="63067"/>
                </a:cubicBezTo>
                <a:cubicBezTo>
                  <a:pt x="195728" y="65695"/>
                  <a:pt x="198369" y="70951"/>
                  <a:pt x="198369" y="74894"/>
                </a:cubicBezTo>
                <a:cubicBezTo>
                  <a:pt x="198369" y="84092"/>
                  <a:pt x="190447" y="90662"/>
                  <a:pt x="182525" y="90662"/>
                </a:cubicBezTo>
                <a:cubicBezTo>
                  <a:pt x="173282" y="90662"/>
                  <a:pt x="166680" y="84092"/>
                  <a:pt x="166680" y="74894"/>
                </a:cubicBezTo>
                <a:cubicBezTo>
                  <a:pt x="166680" y="70951"/>
                  <a:pt x="168001" y="65695"/>
                  <a:pt x="171962" y="63067"/>
                </a:cubicBezTo>
                <a:cubicBezTo>
                  <a:pt x="171962" y="63067"/>
                  <a:pt x="171962" y="63067"/>
                  <a:pt x="171962" y="38100"/>
                </a:cubicBezTo>
                <a:cubicBezTo>
                  <a:pt x="171962" y="38100"/>
                  <a:pt x="171962" y="38100"/>
                  <a:pt x="153476" y="38100"/>
                </a:cubicBezTo>
                <a:cubicBezTo>
                  <a:pt x="153476" y="38100"/>
                  <a:pt x="153476" y="38100"/>
                  <a:pt x="153476" y="63067"/>
                </a:cubicBezTo>
                <a:cubicBezTo>
                  <a:pt x="157438" y="65695"/>
                  <a:pt x="158758" y="70951"/>
                  <a:pt x="158758" y="74894"/>
                </a:cubicBezTo>
                <a:cubicBezTo>
                  <a:pt x="158758" y="84092"/>
                  <a:pt x="152156" y="90662"/>
                  <a:pt x="142913" y="90662"/>
                </a:cubicBezTo>
                <a:cubicBezTo>
                  <a:pt x="134991" y="90662"/>
                  <a:pt x="127069" y="84092"/>
                  <a:pt x="127069" y="74894"/>
                </a:cubicBezTo>
                <a:cubicBezTo>
                  <a:pt x="127069" y="70951"/>
                  <a:pt x="129710" y="65695"/>
                  <a:pt x="133671" y="63067"/>
                </a:cubicBezTo>
                <a:cubicBezTo>
                  <a:pt x="133671" y="63067"/>
                  <a:pt x="133671" y="63067"/>
                  <a:pt x="133671" y="38100"/>
                </a:cubicBezTo>
                <a:cubicBezTo>
                  <a:pt x="133671" y="38100"/>
                  <a:pt x="133671" y="38100"/>
                  <a:pt x="115186" y="38100"/>
                </a:cubicBezTo>
                <a:cubicBezTo>
                  <a:pt x="115186" y="38100"/>
                  <a:pt x="115186" y="38100"/>
                  <a:pt x="115186" y="63067"/>
                </a:cubicBezTo>
                <a:cubicBezTo>
                  <a:pt x="117826" y="65695"/>
                  <a:pt x="120467" y="70951"/>
                  <a:pt x="120467" y="74894"/>
                </a:cubicBezTo>
                <a:cubicBezTo>
                  <a:pt x="120467" y="84092"/>
                  <a:pt x="112545" y="90662"/>
                  <a:pt x="104623" y="90662"/>
                </a:cubicBezTo>
                <a:cubicBezTo>
                  <a:pt x="95380" y="90662"/>
                  <a:pt x="88778" y="84092"/>
                  <a:pt x="88778" y="74894"/>
                </a:cubicBezTo>
                <a:cubicBezTo>
                  <a:pt x="88778" y="70951"/>
                  <a:pt x="91419" y="65695"/>
                  <a:pt x="94060" y="63067"/>
                </a:cubicBezTo>
                <a:cubicBezTo>
                  <a:pt x="94060" y="63067"/>
                  <a:pt x="94060" y="63067"/>
                  <a:pt x="94060" y="38100"/>
                </a:cubicBezTo>
                <a:cubicBezTo>
                  <a:pt x="94060" y="38100"/>
                  <a:pt x="94060" y="38100"/>
                  <a:pt x="75574" y="38100"/>
                </a:cubicBezTo>
                <a:cubicBezTo>
                  <a:pt x="75574" y="38100"/>
                  <a:pt x="75574" y="38100"/>
                  <a:pt x="75574" y="63067"/>
                </a:cubicBezTo>
                <a:cubicBezTo>
                  <a:pt x="79535" y="65695"/>
                  <a:pt x="80856" y="70951"/>
                  <a:pt x="80856" y="74894"/>
                </a:cubicBezTo>
                <a:cubicBezTo>
                  <a:pt x="80856" y="84092"/>
                  <a:pt x="74254" y="90662"/>
                  <a:pt x="65011" y="90662"/>
                </a:cubicBezTo>
                <a:cubicBezTo>
                  <a:pt x="57089" y="90662"/>
                  <a:pt x="49167" y="84092"/>
                  <a:pt x="49167" y="74894"/>
                </a:cubicBezTo>
                <a:cubicBezTo>
                  <a:pt x="49167" y="70951"/>
                  <a:pt x="51808" y="65695"/>
                  <a:pt x="55769" y="63067"/>
                </a:cubicBezTo>
                <a:cubicBezTo>
                  <a:pt x="55769" y="63067"/>
                  <a:pt x="55769" y="63067"/>
                  <a:pt x="55769" y="38100"/>
                </a:cubicBezTo>
                <a:cubicBezTo>
                  <a:pt x="55769" y="38100"/>
                  <a:pt x="55769" y="38100"/>
                  <a:pt x="49167" y="38100"/>
                </a:cubicBezTo>
                <a:close/>
                <a:moveTo>
                  <a:pt x="65315" y="4763"/>
                </a:moveTo>
                <a:cubicBezTo>
                  <a:pt x="63047" y="4763"/>
                  <a:pt x="61913" y="7437"/>
                  <a:pt x="61913" y="10110"/>
                </a:cubicBezTo>
                <a:lnTo>
                  <a:pt x="61913" y="75616"/>
                </a:lnTo>
                <a:cubicBezTo>
                  <a:pt x="61913" y="79626"/>
                  <a:pt x="63047" y="80963"/>
                  <a:pt x="65315" y="80963"/>
                </a:cubicBezTo>
                <a:cubicBezTo>
                  <a:pt x="68717" y="80963"/>
                  <a:pt x="69851" y="79626"/>
                  <a:pt x="69851" y="75616"/>
                </a:cubicBezTo>
                <a:cubicBezTo>
                  <a:pt x="69851" y="75616"/>
                  <a:pt x="69851" y="75616"/>
                  <a:pt x="69851" y="10110"/>
                </a:cubicBezTo>
                <a:cubicBezTo>
                  <a:pt x="69851" y="7437"/>
                  <a:pt x="68717" y="4763"/>
                  <a:pt x="65315" y="4763"/>
                </a:cubicBezTo>
                <a:close/>
                <a:moveTo>
                  <a:pt x="104776" y="4763"/>
                </a:moveTo>
                <a:cubicBezTo>
                  <a:pt x="102394" y="4763"/>
                  <a:pt x="100013" y="7437"/>
                  <a:pt x="100013" y="10110"/>
                </a:cubicBezTo>
                <a:lnTo>
                  <a:pt x="100013" y="75616"/>
                </a:lnTo>
                <a:cubicBezTo>
                  <a:pt x="100013" y="79626"/>
                  <a:pt x="102394" y="80963"/>
                  <a:pt x="104776" y="80963"/>
                </a:cubicBezTo>
                <a:cubicBezTo>
                  <a:pt x="107157" y="80963"/>
                  <a:pt x="109538" y="79626"/>
                  <a:pt x="109538" y="75616"/>
                </a:cubicBezTo>
                <a:cubicBezTo>
                  <a:pt x="109538" y="75616"/>
                  <a:pt x="109538" y="75616"/>
                  <a:pt x="109538" y="10110"/>
                </a:cubicBezTo>
                <a:cubicBezTo>
                  <a:pt x="109538" y="7437"/>
                  <a:pt x="107157" y="4763"/>
                  <a:pt x="104776" y="4763"/>
                </a:cubicBezTo>
                <a:close/>
                <a:moveTo>
                  <a:pt x="142876" y="4763"/>
                </a:moveTo>
                <a:cubicBezTo>
                  <a:pt x="140494" y="4763"/>
                  <a:pt x="138113" y="7437"/>
                  <a:pt x="138113" y="10110"/>
                </a:cubicBezTo>
                <a:lnTo>
                  <a:pt x="138113" y="75616"/>
                </a:lnTo>
                <a:cubicBezTo>
                  <a:pt x="138113" y="79626"/>
                  <a:pt x="140494" y="80963"/>
                  <a:pt x="142876" y="80963"/>
                </a:cubicBezTo>
                <a:cubicBezTo>
                  <a:pt x="145257" y="80963"/>
                  <a:pt x="147638" y="79626"/>
                  <a:pt x="147638" y="75616"/>
                </a:cubicBezTo>
                <a:cubicBezTo>
                  <a:pt x="147638" y="75616"/>
                  <a:pt x="147638" y="75616"/>
                  <a:pt x="147638" y="10110"/>
                </a:cubicBezTo>
                <a:cubicBezTo>
                  <a:pt x="147638" y="7437"/>
                  <a:pt x="145257" y="4763"/>
                  <a:pt x="142876" y="4763"/>
                </a:cubicBezTo>
                <a:close/>
                <a:moveTo>
                  <a:pt x="182563" y="4763"/>
                </a:moveTo>
                <a:cubicBezTo>
                  <a:pt x="180181" y="4763"/>
                  <a:pt x="177800" y="7437"/>
                  <a:pt x="177800" y="10110"/>
                </a:cubicBezTo>
                <a:lnTo>
                  <a:pt x="177800" y="75616"/>
                </a:lnTo>
                <a:cubicBezTo>
                  <a:pt x="177800" y="79626"/>
                  <a:pt x="180181" y="80963"/>
                  <a:pt x="182563" y="80963"/>
                </a:cubicBezTo>
                <a:cubicBezTo>
                  <a:pt x="184944" y="80963"/>
                  <a:pt x="187325" y="79626"/>
                  <a:pt x="187325" y="75616"/>
                </a:cubicBezTo>
                <a:cubicBezTo>
                  <a:pt x="187325" y="75616"/>
                  <a:pt x="187325" y="75616"/>
                  <a:pt x="187325" y="10110"/>
                </a:cubicBezTo>
                <a:cubicBezTo>
                  <a:pt x="187325" y="7437"/>
                  <a:pt x="184944" y="4763"/>
                  <a:pt x="182563" y="4763"/>
                </a:cubicBezTo>
                <a:close/>
                <a:moveTo>
                  <a:pt x="220663" y="4763"/>
                </a:moveTo>
                <a:cubicBezTo>
                  <a:pt x="218281" y="4763"/>
                  <a:pt x="215900" y="7437"/>
                  <a:pt x="215900" y="10110"/>
                </a:cubicBezTo>
                <a:lnTo>
                  <a:pt x="215900" y="75616"/>
                </a:lnTo>
                <a:cubicBezTo>
                  <a:pt x="215900" y="79626"/>
                  <a:pt x="218281" y="80963"/>
                  <a:pt x="220663" y="80963"/>
                </a:cubicBezTo>
                <a:cubicBezTo>
                  <a:pt x="223044" y="80963"/>
                  <a:pt x="225425" y="79626"/>
                  <a:pt x="225425" y="75616"/>
                </a:cubicBezTo>
                <a:cubicBezTo>
                  <a:pt x="225425" y="75616"/>
                  <a:pt x="225425" y="75616"/>
                  <a:pt x="225425" y="10110"/>
                </a:cubicBezTo>
                <a:cubicBezTo>
                  <a:pt x="225425" y="7437"/>
                  <a:pt x="223044" y="4763"/>
                  <a:pt x="220663" y="4763"/>
                </a:cubicBezTo>
                <a:close/>
                <a:moveTo>
                  <a:pt x="260124" y="4763"/>
                </a:moveTo>
                <a:cubicBezTo>
                  <a:pt x="256722" y="4763"/>
                  <a:pt x="255588" y="7437"/>
                  <a:pt x="255588" y="10110"/>
                </a:cubicBezTo>
                <a:lnTo>
                  <a:pt x="255588" y="75616"/>
                </a:lnTo>
                <a:cubicBezTo>
                  <a:pt x="255588" y="79626"/>
                  <a:pt x="256722" y="80963"/>
                  <a:pt x="260124" y="80963"/>
                </a:cubicBezTo>
                <a:cubicBezTo>
                  <a:pt x="262392" y="80963"/>
                  <a:pt x="263526" y="79626"/>
                  <a:pt x="263526" y="75616"/>
                </a:cubicBezTo>
                <a:cubicBezTo>
                  <a:pt x="263526" y="75616"/>
                  <a:pt x="263526" y="75616"/>
                  <a:pt x="263526" y="10110"/>
                </a:cubicBezTo>
                <a:cubicBezTo>
                  <a:pt x="263526" y="7437"/>
                  <a:pt x="262392" y="4763"/>
                  <a:pt x="260124" y="4763"/>
                </a:cubicBezTo>
                <a:close/>
                <a:moveTo>
                  <a:pt x="64823" y="0"/>
                </a:moveTo>
                <a:cubicBezTo>
                  <a:pt x="71438" y="0"/>
                  <a:pt x="75406" y="3944"/>
                  <a:pt x="75406" y="10517"/>
                </a:cubicBezTo>
                <a:cubicBezTo>
                  <a:pt x="75406" y="10517"/>
                  <a:pt x="75406" y="10517"/>
                  <a:pt x="75406" y="14461"/>
                </a:cubicBezTo>
                <a:cubicBezTo>
                  <a:pt x="75406" y="14461"/>
                  <a:pt x="75406" y="14461"/>
                  <a:pt x="93927" y="14461"/>
                </a:cubicBezTo>
                <a:cubicBezTo>
                  <a:pt x="93927" y="14461"/>
                  <a:pt x="93927" y="14461"/>
                  <a:pt x="93927" y="10517"/>
                </a:cubicBezTo>
                <a:cubicBezTo>
                  <a:pt x="93927" y="3944"/>
                  <a:pt x="99219" y="0"/>
                  <a:pt x="104511" y="0"/>
                </a:cubicBezTo>
                <a:cubicBezTo>
                  <a:pt x="109802" y="0"/>
                  <a:pt x="115094" y="3944"/>
                  <a:pt x="115094" y="10517"/>
                </a:cubicBezTo>
                <a:cubicBezTo>
                  <a:pt x="115094" y="10517"/>
                  <a:pt x="115094" y="10517"/>
                  <a:pt x="115094" y="14461"/>
                </a:cubicBezTo>
                <a:cubicBezTo>
                  <a:pt x="115094" y="14461"/>
                  <a:pt x="115094" y="14461"/>
                  <a:pt x="133615" y="14461"/>
                </a:cubicBezTo>
                <a:cubicBezTo>
                  <a:pt x="133615" y="14461"/>
                  <a:pt x="133615" y="14461"/>
                  <a:pt x="133615" y="10517"/>
                </a:cubicBezTo>
                <a:cubicBezTo>
                  <a:pt x="133615" y="3944"/>
                  <a:pt x="137584" y="0"/>
                  <a:pt x="142875" y="0"/>
                </a:cubicBezTo>
                <a:cubicBezTo>
                  <a:pt x="149490" y="0"/>
                  <a:pt x="153459" y="3944"/>
                  <a:pt x="153459" y="10517"/>
                </a:cubicBezTo>
                <a:cubicBezTo>
                  <a:pt x="153459" y="10517"/>
                  <a:pt x="153459" y="10517"/>
                  <a:pt x="153459" y="14461"/>
                </a:cubicBezTo>
                <a:cubicBezTo>
                  <a:pt x="153459" y="14461"/>
                  <a:pt x="153459" y="14461"/>
                  <a:pt x="171980" y="14461"/>
                </a:cubicBezTo>
                <a:cubicBezTo>
                  <a:pt x="171980" y="14461"/>
                  <a:pt x="171980" y="14461"/>
                  <a:pt x="171980" y="10517"/>
                </a:cubicBezTo>
                <a:cubicBezTo>
                  <a:pt x="171980" y="3944"/>
                  <a:pt x="175948" y="0"/>
                  <a:pt x="182563" y="0"/>
                </a:cubicBezTo>
                <a:cubicBezTo>
                  <a:pt x="187855" y="0"/>
                  <a:pt x="191823" y="3944"/>
                  <a:pt x="191823" y="10517"/>
                </a:cubicBezTo>
                <a:cubicBezTo>
                  <a:pt x="191823" y="10517"/>
                  <a:pt x="191823" y="10517"/>
                  <a:pt x="191823" y="14461"/>
                </a:cubicBezTo>
                <a:cubicBezTo>
                  <a:pt x="191823" y="14461"/>
                  <a:pt x="191823" y="14461"/>
                  <a:pt x="210344" y="14461"/>
                </a:cubicBezTo>
                <a:cubicBezTo>
                  <a:pt x="210344" y="14461"/>
                  <a:pt x="210344" y="14461"/>
                  <a:pt x="210344" y="10517"/>
                </a:cubicBezTo>
                <a:cubicBezTo>
                  <a:pt x="210344" y="3944"/>
                  <a:pt x="215636" y="0"/>
                  <a:pt x="220927" y="0"/>
                </a:cubicBezTo>
                <a:cubicBezTo>
                  <a:pt x="226219" y="0"/>
                  <a:pt x="231511" y="3944"/>
                  <a:pt x="231511" y="10517"/>
                </a:cubicBezTo>
                <a:cubicBezTo>
                  <a:pt x="231511" y="10517"/>
                  <a:pt x="231511" y="10517"/>
                  <a:pt x="231511" y="14461"/>
                </a:cubicBezTo>
                <a:cubicBezTo>
                  <a:pt x="231511" y="14461"/>
                  <a:pt x="231511" y="14461"/>
                  <a:pt x="250032" y="14461"/>
                </a:cubicBezTo>
                <a:cubicBezTo>
                  <a:pt x="250032" y="14461"/>
                  <a:pt x="250032" y="14461"/>
                  <a:pt x="250032" y="10517"/>
                </a:cubicBezTo>
                <a:cubicBezTo>
                  <a:pt x="250032" y="3944"/>
                  <a:pt x="254000" y="0"/>
                  <a:pt x="260615" y="0"/>
                </a:cubicBezTo>
                <a:cubicBezTo>
                  <a:pt x="265907" y="0"/>
                  <a:pt x="269875" y="3944"/>
                  <a:pt x="269875" y="10517"/>
                </a:cubicBezTo>
                <a:cubicBezTo>
                  <a:pt x="269875" y="10517"/>
                  <a:pt x="269875" y="10517"/>
                  <a:pt x="269875" y="14461"/>
                </a:cubicBezTo>
                <a:cubicBezTo>
                  <a:pt x="269875" y="14461"/>
                  <a:pt x="269875" y="14461"/>
                  <a:pt x="276490" y="14461"/>
                </a:cubicBezTo>
                <a:cubicBezTo>
                  <a:pt x="302948" y="14461"/>
                  <a:pt x="325438" y="35496"/>
                  <a:pt x="325438" y="61789"/>
                </a:cubicBezTo>
                <a:cubicBezTo>
                  <a:pt x="325438" y="61789"/>
                  <a:pt x="325438" y="61789"/>
                  <a:pt x="325438" y="289223"/>
                </a:cubicBezTo>
                <a:cubicBezTo>
                  <a:pt x="325438" y="315516"/>
                  <a:pt x="302948" y="336550"/>
                  <a:pt x="276490" y="336550"/>
                </a:cubicBezTo>
                <a:cubicBezTo>
                  <a:pt x="276490" y="336550"/>
                  <a:pt x="276490" y="336550"/>
                  <a:pt x="48948" y="336550"/>
                </a:cubicBezTo>
                <a:cubicBezTo>
                  <a:pt x="22490" y="336550"/>
                  <a:pt x="0" y="315516"/>
                  <a:pt x="0" y="289223"/>
                </a:cubicBezTo>
                <a:cubicBezTo>
                  <a:pt x="0" y="289223"/>
                  <a:pt x="0" y="289223"/>
                  <a:pt x="0" y="61789"/>
                </a:cubicBezTo>
                <a:cubicBezTo>
                  <a:pt x="0" y="35496"/>
                  <a:pt x="22490" y="14461"/>
                  <a:pt x="48948" y="14461"/>
                </a:cubicBezTo>
                <a:cubicBezTo>
                  <a:pt x="48948" y="14461"/>
                  <a:pt x="48948" y="14461"/>
                  <a:pt x="55563" y="14461"/>
                </a:cubicBezTo>
                <a:cubicBezTo>
                  <a:pt x="55563" y="14461"/>
                  <a:pt x="55563" y="14461"/>
                  <a:pt x="55563" y="10517"/>
                </a:cubicBezTo>
                <a:cubicBezTo>
                  <a:pt x="55563" y="3944"/>
                  <a:pt x="59531" y="0"/>
                  <a:pt x="648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4880" y="3980002"/>
            <a:ext cx="2904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Tengzhe ZHANG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10610401" y="2907324"/>
            <a:ext cx="1581601" cy="3950678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1601" h="3181849">
                <a:moveTo>
                  <a:pt x="1581601" y="0"/>
                </a:moveTo>
                <a:lnTo>
                  <a:pt x="1581601" y="3181849"/>
                </a:lnTo>
                <a:lnTo>
                  <a:pt x="23295" y="3181849"/>
                </a:lnTo>
                <a:lnTo>
                  <a:pt x="6636" y="3006685"/>
                </a:lnTo>
                <a:cubicBezTo>
                  <a:pt x="2234" y="2937244"/>
                  <a:pt x="0" y="2867215"/>
                  <a:pt x="0" y="2796663"/>
                </a:cubicBezTo>
                <a:cubicBezTo>
                  <a:pt x="0" y="1667843"/>
                  <a:pt x="571931" y="672605"/>
                  <a:pt x="1441825" y="84916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3847621" y="5469336"/>
            <a:ext cx="6257697" cy="1432989"/>
          </a:xfrm>
          <a:custGeom>
            <a:avLst/>
            <a:gdLst>
              <a:gd name="connsiteX0" fmla="*/ 2609261 w 5218520"/>
              <a:gd name="connsiteY0" fmla="*/ 0 h 1432989"/>
              <a:gd name="connsiteX1" fmla="*/ 5157332 w 5218520"/>
              <a:gd name="connsiteY1" fmla="*/ 1333829 h 1432989"/>
              <a:gd name="connsiteX2" fmla="*/ 5218520 w 5218520"/>
              <a:gd name="connsiteY2" fmla="*/ 1432989 h 1432989"/>
              <a:gd name="connsiteX3" fmla="*/ 0 w 5218520"/>
              <a:gd name="connsiteY3" fmla="*/ 1432989 h 1432989"/>
              <a:gd name="connsiteX4" fmla="*/ 61189 w 5218520"/>
              <a:gd name="connsiteY4" fmla="*/ 1333829 h 1432989"/>
              <a:gd name="connsiteX5" fmla="*/ 2609261 w 5218520"/>
              <a:gd name="connsiteY5" fmla="*/ 0 h 1432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8520" h="1432989">
                <a:moveTo>
                  <a:pt x="2609261" y="0"/>
                </a:moveTo>
                <a:cubicBezTo>
                  <a:pt x="3669947" y="0"/>
                  <a:pt x="4605115" y="529093"/>
                  <a:pt x="5157332" y="1333829"/>
                </a:cubicBezTo>
                <a:lnTo>
                  <a:pt x="5218520" y="1432989"/>
                </a:lnTo>
                <a:lnTo>
                  <a:pt x="0" y="1432989"/>
                </a:lnTo>
                <a:lnTo>
                  <a:pt x="61189" y="1333829"/>
                </a:lnTo>
                <a:cubicBezTo>
                  <a:pt x="613405" y="529093"/>
                  <a:pt x="1548574" y="0"/>
                  <a:pt x="2609261" y="0"/>
                </a:cubicBezTo>
                <a:close/>
              </a:path>
            </a:pathLst>
          </a:custGeom>
          <a:solidFill>
            <a:srgbClr val="83C0C8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16200000" flipH="1">
            <a:off x="8352320" y="3062643"/>
            <a:ext cx="2568101" cy="5111263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  <a:gd name="connsiteX0" fmla="*/ 1575000 w 1575000"/>
              <a:gd name="connsiteY0" fmla="*/ 0 h 3181849"/>
              <a:gd name="connsiteX1" fmla="*/ 1575000 w 1575000"/>
              <a:gd name="connsiteY1" fmla="*/ 3181849 h 3181849"/>
              <a:gd name="connsiteX2" fmla="*/ 16694 w 1575000"/>
              <a:gd name="connsiteY2" fmla="*/ 3181849 h 3181849"/>
              <a:gd name="connsiteX3" fmla="*/ 35 w 1575000"/>
              <a:gd name="connsiteY3" fmla="*/ 3006685 h 3181849"/>
              <a:gd name="connsiteX4" fmla="*/ 411343 w 1575000"/>
              <a:gd name="connsiteY4" fmla="*/ 2201559 h 3181849"/>
              <a:gd name="connsiteX5" fmla="*/ 1435224 w 1575000"/>
              <a:gd name="connsiteY5" fmla="*/ 84916 h 3181849"/>
              <a:gd name="connsiteX6" fmla="*/ 1575000 w 1575000"/>
              <a:gd name="connsiteY6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94649 w 1558306"/>
              <a:gd name="connsiteY3" fmla="*/ 2201559 h 3181849"/>
              <a:gd name="connsiteX4" fmla="*/ 1418530 w 1558306"/>
              <a:gd name="connsiteY4" fmla="*/ 84916 h 3181849"/>
              <a:gd name="connsiteX5" fmla="*/ 1558306 w 1558306"/>
              <a:gd name="connsiteY5" fmla="*/ 0 h 3181849"/>
              <a:gd name="connsiteX0" fmla="*/ 1614440 w 1614440"/>
              <a:gd name="connsiteY0" fmla="*/ 0 h 3181849"/>
              <a:gd name="connsiteX1" fmla="*/ 1614440 w 1614440"/>
              <a:gd name="connsiteY1" fmla="*/ 3181849 h 3181849"/>
              <a:gd name="connsiteX2" fmla="*/ 56134 w 1614440"/>
              <a:gd name="connsiteY2" fmla="*/ 3181849 h 3181849"/>
              <a:gd name="connsiteX3" fmla="*/ 450783 w 1614440"/>
              <a:gd name="connsiteY3" fmla="*/ 2201559 h 3181849"/>
              <a:gd name="connsiteX4" fmla="*/ 1474664 w 1614440"/>
              <a:gd name="connsiteY4" fmla="*/ 84916 h 3181849"/>
              <a:gd name="connsiteX5" fmla="*/ 1614440 w 1614440"/>
              <a:gd name="connsiteY5" fmla="*/ 0 h 3181849"/>
              <a:gd name="connsiteX0" fmla="*/ 1591239 w 1591239"/>
              <a:gd name="connsiteY0" fmla="*/ 0 h 3181849"/>
              <a:gd name="connsiteX1" fmla="*/ 1591239 w 1591239"/>
              <a:gd name="connsiteY1" fmla="*/ 3181849 h 3181849"/>
              <a:gd name="connsiteX2" fmla="*/ 32933 w 1591239"/>
              <a:gd name="connsiteY2" fmla="*/ 3181849 h 3181849"/>
              <a:gd name="connsiteX3" fmla="*/ 427582 w 1591239"/>
              <a:gd name="connsiteY3" fmla="*/ 2201559 h 3181849"/>
              <a:gd name="connsiteX4" fmla="*/ 1451463 w 1591239"/>
              <a:gd name="connsiteY4" fmla="*/ 84916 h 3181849"/>
              <a:gd name="connsiteX5" fmla="*/ 1591239 w 1591239"/>
              <a:gd name="connsiteY5" fmla="*/ 0 h 3181849"/>
              <a:gd name="connsiteX0" fmla="*/ 1591239 w 1591239"/>
              <a:gd name="connsiteY0" fmla="*/ 10258 h 3192107"/>
              <a:gd name="connsiteX1" fmla="*/ 1591239 w 1591239"/>
              <a:gd name="connsiteY1" fmla="*/ 3192107 h 3192107"/>
              <a:gd name="connsiteX2" fmla="*/ 32933 w 1591239"/>
              <a:gd name="connsiteY2" fmla="*/ 3192107 h 3192107"/>
              <a:gd name="connsiteX3" fmla="*/ 427582 w 1591239"/>
              <a:gd name="connsiteY3" fmla="*/ 2211817 h 3192107"/>
              <a:gd name="connsiteX4" fmla="*/ 1591239 w 1591239"/>
              <a:gd name="connsiteY4" fmla="*/ 10258 h 3192107"/>
              <a:gd name="connsiteX0" fmla="*/ 1616804 w 1616804"/>
              <a:gd name="connsiteY0" fmla="*/ 10258 h 3192107"/>
              <a:gd name="connsiteX1" fmla="*/ 1616804 w 1616804"/>
              <a:gd name="connsiteY1" fmla="*/ 3192107 h 3192107"/>
              <a:gd name="connsiteX2" fmla="*/ 58498 w 1616804"/>
              <a:gd name="connsiteY2" fmla="*/ 3192107 h 3192107"/>
              <a:gd name="connsiteX3" fmla="*/ 453147 w 1616804"/>
              <a:gd name="connsiteY3" fmla="*/ 2211817 h 3192107"/>
              <a:gd name="connsiteX4" fmla="*/ 1616804 w 1616804"/>
              <a:gd name="connsiteY4" fmla="*/ 10258 h 3192107"/>
              <a:gd name="connsiteX0" fmla="*/ 1595354 w 1595354"/>
              <a:gd name="connsiteY0" fmla="*/ 10393 h 3192242"/>
              <a:gd name="connsiteX1" fmla="*/ 1595354 w 1595354"/>
              <a:gd name="connsiteY1" fmla="*/ 3192242 h 3192242"/>
              <a:gd name="connsiteX2" fmla="*/ 37048 w 1595354"/>
              <a:gd name="connsiteY2" fmla="*/ 3192242 h 3192242"/>
              <a:gd name="connsiteX3" fmla="*/ 431697 w 1595354"/>
              <a:gd name="connsiteY3" fmla="*/ 2211952 h 3192242"/>
              <a:gd name="connsiteX4" fmla="*/ 1595354 w 1595354"/>
              <a:gd name="connsiteY4" fmla="*/ 10393 h 3192242"/>
              <a:gd name="connsiteX0" fmla="*/ 1558306 w 1558306"/>
              <a:gd name="connsiteY0" fmla="*/ 10393 h 3192242"/>
              <a:gd name="connsiteX1" fmla="*/ 1558306 w 1558306"/>
              <a:gd name="connsiteY1" fmla="*/ 3192242 h 3192242"/>
              <a:gd name="connsiteX2" fmla="*/ 0 w 1558306"/>
              <a:gd name="connsiteY2" fmla="*/ 3192242 h 3192242"/>
              <a:gd name="connsiteX3" fmla="*/ 394649 w 1558306"/>
              <a:gd name="connsiteY3" fmla="*/ 2211952 h 3192242"/>
              <a:gd name="connsiteX4" fmla="*/ 1558306 w 1558306"/>
              <a:gd name="connsiteY4" fmla="*/ 10393 h 3192242"/>
              <a:gd name="connsiteX0" fmla="*/ 1558306 w 1558306"/>
              <a:gd name="connsiteY0" fmla="*/ 13600 h 3195449"/>
              <a:gd name="connsiteX1" fmla="*/ 1558306 w 1558306"/>
              <a:gd name="connsiteY1" fmla="*/ 3195449 h 3195449"/>
              <a:gd name="connsiteX2" fmla="*/ 0 w 1558306"/>
              <a:gd name="connsiteY2" fmla="*/ 3195449 h 3195449"/>
              <a:gd name="connsiteX3" fmla="*/ 337657 w 1558306"/>
              <a:gd name="connsiteY3" fmla="*/ 1758050 h 3195449"/>
              <a:gd name="connsiteX4" fmla="*/ 1558306 w 1558306"/>
              <a:gd name="connsiteY4" fmla="*/ 13600 h 31954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37657 w 1558306"/>
              <a:gd name="connsiteY3" fmla="*/ 1744450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8306" h="3181849">
                <a:moveTo>
                  <a:pt x="1558306" y="0"/>
                </a:moveTo>
                <a:lnTo>
                  <a:pt x="1558306" y="3181849"/>
                </a:lnTo>
                <a:lnTo>
                  <a:pt x="0" y="3181849"/>
                </a:lnTo>
                <a:cubicBezTo>
                  <a:pt x="559074" y="2664854"/>
                  <a:pt x="474375" y="2283384"/>
                  <a:pt x="430134" y="1727202"/>
                </a:cubicBezTo>
                <a:cubicBezTo>
                  <a:pt x="385893" y="1171020"/>
                  <a:pt x="566471" y="310976"/>
                  <a:pt x="1558306" y="0"/>
                </a:cubicBez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3030775">
            <a:off x="10032424" y="686329"/>
            <a:ext cx="480112" cy="480112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rot="3030775">
            <a:off x="10162197" y="3105247"/>
            <a:ext cx="279048" cy="279048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83C0C8">
              <a:alpha val="63000"/>
            </a:srgbClr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3" name="任意多边形 32"/>
          <p:cNvSpPr/>
          <p:nvPr/>
        </p:nvSpPr>
        <p:spPr>
          <a:xfrm rot="3030775">
            <a:off x="7841834" y="4592812"/>
            <a:ext cx="160482" cy="160483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ECC3F8-14E1-49FB-83AA-E35834B5B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44281"/>
            <a:ext cx="1969104" cy="57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02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48487"/>
            <a:ext cx="7632848" cy="568818"/>
            <a:chOff x="1531203" y="-789372"/>
            <a:chExt cx="10715705" cy="847403"/>
          </a:xfrm>
        </p:grpSpPr>
        <p:sp>
          <p:nvSpPr>
            <p:cNvPr id="53" name="矩形 52"/>
            <p:cNvSpPr/>
            <p:nvPr/>
          </p:nvSpPr>
          <p:spPr>
            <a:xfrm>
              <a:off x="1531203" y="-78937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Background &amp; Objectives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D6246DC-D3F7-433D-A1B5-72611E6A52A4}"/>
              </a:ext>
            </a:extLst>
          </p:cNvPr>
          <p:cNvSpPr txBox="1"/>
          <p:nvPr/>
        </p:nvSpPr>
        <p:spPr>
          <a:xfrm>
            <a:off x="767408" y="1905506"/>
            <a:ext cx="108732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latin typeface="等线" panose="02010600030101010101" pitchFamily="2" charset="-122"/>
                <a:cs typeface="Times New Roman" panose="02020603050405020304" pitchFamily="18" charset="0"/>
              </a:rPr>
              <a:t>Video games are a major entertainment industry; best-sellers reflect player preferences and market trends.</a:t>
            </a:r>
          </a:p>
          <a:p>
            <a:endParaRPr lang="en-US" altLang="zh-CN" sz="320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/>
              <a:t>This project analyzes best-selling video games from Wikipedia to understand sales patterns across titles, years, franchises, and platforms.</a:t>
            </a:r>
            <a:endParaRPr lang="zh-CN" altLang="en-US" sz="320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69593"/>
      </p:ext>
    </p:extLst>
  </p:cSld>
  <p:clrMapOvr>
    <a:masterClrMapping/>
  </p:clrMapOvr>
  <p:transition spd="slow" advClick="0" advTm="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48487"/>
            <a:ext cx="7632848" cy="568818"/>
            <a:chOff x="1531203" y="-789372"/>
            <a:chExt cx="10715705" cy="847403"/>
          </a:xfrm>
        </p:grpSpPr>
        <p:sp>
          <p:nvSpPr>
            <p:cNvPr id="53" name="矩形 52"/>
            <p:cNvSpPr/>
            <p:nvPr/>
          </p:nvSpPr>
          <p:spPr>
            <a:xfrm>
              <a:off x="1531203" y="-78937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Data Source &amp; Web Scraping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A212382-DC52-4607-9E59-D3CE2CD6CDB5}"/>
              </a:ext>
            </a:extLst>
          </p:cNvPr>
          <p:cNvSpPr txBox="1"/>
          <p:nvPr/>
        </p:nvSpPr>
        <p:spPr>
          <a:xfrm>
            <a:off x="1127448" y="1556792"/>
            <a:ext cx="105851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Source:</a:t>
            </a:r>
          </a:p>
          <a:p>
            <a:r>
              <a:rPr lang="en-US" altLang="zh-CN" sz="2000"/>
              <a:t>Wikipedia page: “List of best-selling video games”</a:t>
            </a:r>
          </a:p>
          <a:p>
            <a:r>
              <a:rPr lang="en-US" altLang="zh-CN" sz="1600">
                <a:highlight>
                  <a:srgbClr val="C0C0C0"/>
                </a:highlight>
                <a:latin typeface="Consolas" panose="020B0609020204030204" pitchFamily="49" charset="0"/>
              </a:rPr>
              <a:t>url = “https://en.wikipedia.org/wiki/List_of_best-selling_video_games”</a:t>
            </a:r>
          </a:p>
          <a:p>
            <a:endParaRPr lang="en-US" altLang="zh-CN" sz="160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r>
              <a:rPr lang="en-US" altLang="zh-CN" sz="2000" b="1" u="sng"/>
              <a:t>Tools:</a:t>
            </a:r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requests + BeautifulSoup </a:t>
            </a:r>
            <a:r>
              <a:rPr lang="en-US" altLang="zh-CN" sz="2000"/>
              <a:t>for web scraping</a:t>
            </a:r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pandas</a:t>
            </a:r>
            <a:r>
              <a:rPr lang="en-US" altLang="zh-CN" sz="2000"/>
              <a:t> and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matplotlib</a:t>
            </a:r>
            <a:r>
              <a:rPr lang="en-US" altLang="zh-CN" sz="20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/>
              <a:t>for data handling</a:t>
            </a:r>
          </a:p>
          <a:p>
            <a:endParaRPr lang="en-US" altLang="zh-CN" sz="2000"/>
          </a:p>
          <a:p>
            <a:r>
              <a:rPr lang="en-US" altLang="zh-CN" sz="2000" b="1" u="sng"/>
              <a:t>Process: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/>
              <a:t>Download the HTML page using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requests.get()</a:t>
            </a:r>
            <a:endParaRPr lang="en-US" altLang="zh-CN" sz="200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/>
              <a:t>Use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BeautifulSoup</a:t>
            </a:r>
            <a:r>
              <a:rPr lang="en-US" altLang="zh-CN" sz="2000"/>
              <a:t> to locate the best-selling games 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/>
              <a:t>Parse rows to extract title, sales, platforms, release date, developer/publisher, etc.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/>
              <a:t>Store results in a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pandas.DataFrame</a:t>
            </a:r>
            <a:r>
              <a:rPr lang="en-US" altLang="zh-CN" sz="2000"/>
              <a:t> and export as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.CSV</a:t>
            </a:r>
            <a:endParaRPr lang="zh-CN" altLang="en-US" sz="2000">
              <a:highlight>
                <a:srgbClr val="C0C0C0"/>
              </a:highlight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853841"/>
      </p:ext>
    </p:extLst>
  </p:cSld>
  <p:clrMapOvr>
    <a:masterClrMapping/>
  </p:clrMapOvr>
  <p:transition spd="slow" advClick="0" advTm="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Data Cleaning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15B3ADFE-FC48-479A-A21A-B0985EC5FA1A}"/>
              </a:ext>
            </a:extLst>
          </p:cNvPr>
          <p:cNvSpPr txBox="1"/>
          <p:nvPr/>
        </p:nvSpPr>
        <p:spPr>
          <a:xfrm>
            <a:off x="551384" y="1536174"/>
            <a:ext cx="43924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Cleaning steps: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000"/>
              <a:t>Remove footnote markers like [1], [a].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000"/>
              <a:t>Strip extra spaces and special characters.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Field transformations: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sales_millions</a:t>
            </a:r>
            <a:r>
              <a:rPr lang="en-US" altLang="zh-CN" sz="2000"/>
              <a:t>: extract numeric values from strings like "82.90 million" →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float</a:t>
            </a:r>
            <a:endParaRPr lang="en-US" altLang="zh-CN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release_year</a:t>
            </a:r>
            <a:r>
              <a:rPr lang="en-US" altLang="zh-CN" sz="2000"/>
              <a:t>: extract year from full release date →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2000"/>
              <a:t>.</a:t>
            </a:r>
          </a:p>
          <a:p>
            <a:endParaRPr lang="en-US" altLang="zh-CN" sz="2000" b="1" u="sng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111A8B-D235-4D6D-A300-F02BE60FE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725" y="1052736"/>
            <a:ext cx="6173061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26143"/>
      </p:ext>
    </p:extLst>
  </p:cSld>
  <p:clrMapOvr>
    <a:masterClrMapping/>
  </p:clrMapOvr>
  <p:transition spd="slow" advClick="0" advTm="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1 – Total sales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15B3ADFE-FC48-479A-A21A-B0985EC5FA1A}"/>
              </a:ext>
            </a:extLst>
          </p:cNvPr>
          <p:cNvSpPr txBox="1"/>
          <p:nvPr/>
        </p:nvSpPr>
        <p:spPr>
          <a:xfrm>
            <a:off x="407368" y="1444009"/>
            <a:ext cx="55446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Identify the most successful individual titles in the dataset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Rank games by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  <a:r>
              <a:rPr lang="en-US" altLang="zh-CN" sz="2000"/>
              <a:t> and select the Top 10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A small group of top titles clearly stand out from the rest.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 gap between the first few games and the lower-ranked games suggests a strong “blockbuster” effect.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476BE1-1FC3-4244-82D0-5BCEF66DF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84784"/>
            <a:ext cx="5844832" cy="436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93516"/>
      </p:ext>
    </p:extLst>
  </p:cSld>
  <p:clrMapOvr>
    <a:masterClrMapping/>
  </p:clrMapOvr>
  <p:transition spd="slow" advClick="0" advTm="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2 – Total Sales of All Games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6C5D7C7-32D2-4768-BD14-DFBC89CD196C}"/>
              </a:ext>
            </a:extLst>
          </p:cNvPr>
          <p:cNvSpPr txBox="1"/>
          <p:nvPr/>
        </p:nvSpPr>
        <p:spPr>
          <a:xfrm>
            <a:off x="767408" y="1628800"/>
            <a:ext cx="100811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Measure the overall market size represented by the dataset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total_sales = df["Sales_million"].sum()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 total sales figure shows how large the combined market is for these best-selling titles.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can be used as a reference point when discussing the contribution of top games. 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8DDB36F-AE82-45B6-AE97-3C490FBC5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014760"/>
              </p:ext>
            </p:extLst>
          </p:nvPr>
        </p:nvGraphicFramePr>
        <p:xfrm>
          <a:off x="4712072" y="5108775"/>
          <a:ext cx="2191792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91792">
                  <a:extLst>
                    <a:ext uri="{9D8B030D-6E8A-4147-A177-3AD203B41FA5}">
                      <a16:colId xmlns:a16="http://schemas.microsoft.com/office/drawing/2014/main" val="886694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Total sales (million)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89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2169.24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439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939420"/>
      </p:ext>
    </p:extLst>
  </p:cSld>
  <p:clrMapOvr>
    <a:masterClrMapping/>
  </p:clrMapOvr>
  <p:transition spd="slow" advClick="0" advTm="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3 – Median Sales per Game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7B83DD0-0220-4762-81C5-5D4026D6B864}"/>
              </a:ext>
            </a:extLst>
          </p:cNvPr>
          <p:cNvSpPr txBox="1"/>
          <p:nvPr/>
        </p:nvSpPr>
        <p:spPr>
          <a:xfrm>
            <a:off x="1055440" y="1683324"/>
            <a:ext cx="1008112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Understand what a “typical” best-selling game sells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median_sales = df["Sales_million"].median()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 median separates high-performing blockbusters from lower-end best-sellers.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Comparing the median with the sales of each game can highlight skewness.</a:t>
            </a:r>
          </a:p>
          <a:p>
            <a:endParaRPr lang="en-US" altLang="zh-CN" sz="2000"/>
          </a:p>
          <a:p>
            <a:endParaRPr lang="en-US" altLang="zh-CN" sz="2000"/>
          </a:p>
        </p:txBody>
      </p:sp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F2674201-072F-4C6E-835D-D600D9B68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772031"/>
              </p:ext>
            </p:extLst>
          </p:nvPr>
        </p:nvGraphicFramePr>
        <p:xfrm>
          <a:off x="4643914" y="4941168"/>
          <a:ext cx="2904172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04172">
                  <a:extLst>
                    <a:ext uri="{9D8B030D-6E8A-4147-A177-3AD203B41FA5}">
                      <a16:colId xmlns:a16="http://schemas.microsoft.com/office/drawing/2014/main" val="886694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Median sales (million)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89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34.5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439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516653"/>
      </p:ext>
    </p:extLst>
  </p:cSld>
  <p:clrMapOvr>
    <a:masterClrMapping/>
  </p:clrMapOvr>
  <p:transition spd="slow" advClick="0" advTm="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4 – Share of Sales from Top 5 Games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7B83DD0-0220-4762-81C5-5D4026D6B864}"/>
              </a:ext>
            </a:extLst>
          </p:cNvPr>
          <p:cNvSpPr txBox="1"/>
          <p:nvPr/>
        </p:nvSpPr>
        <p:spPr>
          <a:xfrm>
            <a:off x="767408" y="1340768"/>
            <a:ext cx="504056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Quantify how concentrated total sales are in a few games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Sales of Top 5 titles and divide by 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total_sales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A high percentage indicates that a small number of titles dominate the market.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supports the idea that the video game market is strongly driven by a few flagship games.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55C91A-4161-4018-AF72-3CEECBFF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2060848"/>
            <a:ext cx="5464187" cy="325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31336"/>
      </p:ext>
    </p:extLst>
  </p:cSld>
  <p:clrMapOvr>
    <a:masterClrMapping/>
  </p:clrMapOvr>
  <p:transition spd="slow" advClick="0" advTm="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311D554-64D9-4F9D-815C-40D235D1C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83" y="1345117"/>
            <a:ext cx="6000750" cy="447675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767408" y="390051"/>
            <a:ext cx="8640960" cy="527254"/>
            <a:chOff x="1531203" y="-727452"/>
            <a:chExt cx="12130987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2130987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5 – Number of Games by Release Year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4B544179-28F0-4BB7-9904-00D301C409FF}"/>
              </a:ext>
            </a:extLst>
          </p:cNvPr>
          <p:cNvSpPr txBox="1"/>
          <p:nvPr/>
        </p:nvSpPr>
        <p:spPr>
          <a:xfrm>
            <a:off x="761047" y="1536778"/>
            <a:ext cx="482453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See when best-selling games were released and identify active periods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Count of games per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Year</a:t>
            </a:r>
            <a:endParaRPr lang="en-US" altLang="zh-CN" sz="2000"/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Certain years show a spike in the number of best-selling releases.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These peaks may correspond to new console generations or major industry cycles.</a:t>
            </a:r>
          </a:p>
        </p:txBody>
      </p:sp>
    </p:spTree>
    <p:extLst>
      <p:ext uri="{BB962C8B-B14F-4D97-AF65-F5344CB8AC3E}">
        <p14:creationId xmlns:p14="http://schemas.microsoft.com/office/powerpoint/2010/main" val="1498217565"/>
      </p:ext>
    </p:extLst>
  </p:cSld>
  <p:clrMapOvr>
    <a:masterClrMapping/>
  </p:clrMapOvr>
  <p:transition spd="slow" advClick="0" advTm="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6 – Total Sales by Release Year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1764453-35BC-495A-BB15-AA568FC96E92}"/>
              </a:ext>
            </a:extLst>
          </p:cNvPr>
          <p:cNvSpPr txBox="1"/>
          <p:nvPr/>
        </p:nvSpPr>
        <p:spPr>
          <a:xfrm>
            <a:off x="695400" y="1412776"/>
            <a:ext cx="464186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Measure how much sales volume is associated with each release year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Group by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Year</a:t>
            </a:r>
            <a:r>
              <a:rPr lang="en-US" altLang="zh-CN" sz="2000"/>
              <a:t> and sum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Some years generate much higher total sales due to one or more blockbuster releases.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Comparing KPI 5 and 6 reveals whether high sales come from many games or from a few extremely successful ones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37B828-6C74-42E4-AF51-65B45EB5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435" y="1772816"/>
            <a:ext cx="6429642" cy="383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95234"/>
      </p:ext>
    </p:extLst>
  </p:cSld>
  <p:clrMapOvr>
    <a:masterClrMapping/>
  </p:clrMapOvr>
  <p:transition spd="slow" advClick="0" advTm="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7 – Sales Distribution by Range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956B30C0-D215-46CD-A2EA-68FF4C89A16A}"/>
              </a:ext>
            </a:extLst>
          </p:cNvPr>
          <p:cNvSpPr txBox="1"/>
          <p:nvPr/>
        </p:nvSpPr>
        <p:spPr>
          <a:xfrm>
            <a:off x="684524" y="1484784"/>
            <a:ext cx="54006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Understand how games are spread across different sales ranges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Bin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  <a:r>
              <a:rPr lang="en-US" altLang="zh-CN" sz="2000"/>
              <a:t> into ranges such as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[0~20, 20~40, 40~60, 60~80, 80+]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Most games fall into certain sales bands, while only a few reach the very top range.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highlights how difficult it is for a game to reach extremely high unit sales.</a:t>
            </a:r>
          </a:p>
          <a:p>
            <a:endParaRPr lang="en-US" altLang="zh-CN" sz="20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678CE2-52A2-4D6A-8E50-830FDBC3E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370" y="2060848"/>
            <a:ext cx="5551143" cy="344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49239"/>
      </p:ext>
    </p:extLst>
  </p:cSld>
  <p:clrMapOvr>
    <a:masterClrMapping/>
  </p:clrMapOvr>
  <p:transition spd="slow" advClick="0" advTm="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8 – Sales by Series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3D60CCBE-F995-4B9B-8D65-69F02264829C}"/>
              </a:ext>
            </a:extLst>
          </p:cNvPr>
          <p:cNvSpPr txBox="1"/>
          <p:nvPr/>
        </p:nvSpPr>
        <p:spPr>
          <a:xfrm>
            <a:off x="765547" y="1283473"/>
            <a:ext cx="338437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Evaluate which game series are the strongest over time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Group by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series</a:t>
            </a:r>
            <a:r>
              <a:rPr lang="en-US" altLang="zh-CN" sz="2000"/>
              <a:t> and sum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  <a:r>
              <a:rPr lang="en-US" altLang="zh-CN" sz="2000"/>
              <a:t>; show the top series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A few franchises account for a large share of total sales.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indicates the power of strong IPs and sequels in the video game market.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71DCD-24E2-42C3-AF51-CD8BCCF7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00" y="1259659"/>
            <a:ext cx="7272808" cy="433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34303"/>
      </p:ext>
    </p:extLst>
  </p:cSld>
  <p:clrMapOvr>
    <a:masterClrMapping/>
  </p:clrMapOvr>
  <p:transition spd="slow" advClick="0" advTm="0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9 – Single vs Multi-Platform Games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604931BE-73BD-491A-84EC-55911E15D9EF}"/>
              </a:ext>
            </a:extLst>
          </p:cNvPr>
          <p:cNvSpPr txBox="1"/>
          <p:nvPr/>
        </p:nvSpPr>
        <p:spPr>
          <a:xfrm>
            <a:off x="623392" y="1383854"/>
            <a:ext cx="60486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Examine how platform strategy appears among best-selling games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Classify each game as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Single-platform</a:t>
            </a:r>
            <a:r>
              <a:rPr lang="en-US" altLang="zh-CN" sz="2000"/>
              <a:t> or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Multi-platform</a:t>
            </a:r>
            <a:r>
              <a:rPr lang="en-US" altLang="zh-CN" sz="2000"/>
              <a:t> and count games in each group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The relative counts show whether multi-platform releases are common among best-sellers.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If multi-platform games have higher average sales, this suggests that broader platform coverage can help maximize units sold.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012882-DF8B-4F62-866A-94C0A8CBB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88" y="1484784"/>
            <a:ext cx="4199347" cy="419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36712"/>
      </p:ext>
    </p:extLst>
  </p:cSld>
  <p:clrMapOvr>
    <a:masterClrMapping/>
  </p:clrMapOvr>
  <p:transition spd="slow" advClick="0" advTm="0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767408" y="390051"/>
            <a:ext cx="7632848" cy="527254"/>
            <a:chOff x="1531203" y="-727452"/>
            <a:chExt cx="10715705" cy="785483"/>
          </a:xfrm>
        </p:grpSpPr>
        <p:sp>
          <p:nvSpPr>
            <p:cNvPr id="53" name="矩形 52"/>
            <p:cNvSpPr/>
            <p:nvPr/>
          </p:nvSpPr>
          <p:spPr>
            <a:xfrm>
              <a:off x="1531203" y="-727452"/>
              <a:ext cx="10715705" cy="7794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KPI 10 – Oldest vs Newest Game Sales</a:t>
              </a:r>
              <a:endPara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>
              <a:off x="1773366" y="58031"/>
              <a:ext cx="928476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FAABB9B5-F214-4A04-8A4A-0DF702AABF09}"/>
              </a:ext>
            </a:extLst>
          </p:cNvPr>
          <p:cNvSpPr txBox="1"/>
          <p:nvPr/>
        </p:nvSpPr>
        <p:spPr>
          <a:xfrm>
            <a:off x="551384" y="1018244"/>
            <a:ext cx="1152127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u="sng"/>
              <a:t>Objective:</a:t>
            </a:r>
          </a:p>
          <a:p>
            <a:r>
              <a:rPr lang="en-US" altLang="zh-CN" sz="2000"/>
              <a:t>Compare sales performance of the earliest and most recent releases in the dataset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KPI Definition:</a:t>
            </a:r>
          </a:p>
          <a:p>
            <a:r>
              <a:rPr lang="en-US" altLang="zh-CN" sz="2000"/>
              <a:t>Find the game with the minimum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Year</a:t>
            </a:r>
            <a:r>
              <a:rPr lang="en-US" altLang="zh-CN" sz="2000"/>
              <a:t> and the game with the maximum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Year</a:t>
            </a:r>
            <a:r>
              <a:rPr lang="en-US" altLang="zh-CN" sz="2000"/>
              <a:t>, and show their </a:t>
            </a:r>
            <a:r>
              <a:rPr lang="en-US" altLang="zh-CN">
                <a:highlight>
                  <a:srgbClr val="C0C0C0"/>
                </a:highlight>
                <a:latin typeface="Consolas" panose="020B0609020204030204" pitchFamily="49" charset="0"/>
              </a:rPr>
              <a:t>Sales_million</a:t>
            </a:r>
          </a:p>
          <a:p>
            <a:endParaRPr lang="en-US" altLang="zh-CN" sz="2000" b="1" u="sng"/>
          </a:p>
          <a:p>
            <a:r>
              <a:rPr lang="en-US" altLang="zh-CN" sz="2000" b="1" u="sng"/>
              <a:t>Key Insight: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This comparison illustrates how long-term classics and recent hits both contribute to the list of best-sellers.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/>
              <a:t> It helps to discuss whether older games still dominate, or if newer titles are catching up.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7C3347-5D1F-4E95-87DC-6B13053F4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938" y="4496119"/>
            <a:ext cx="4984124" cy="218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035"/>
      </p:ext>
    </p:extLst>
  </p:cSld>
  <p:clrMapOvr>
    <a:masterClrMapping/>
  </p:clrMapOvr>
  <p:transition spd="slow" advClick="0" advTm="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95400" y="2166679"/>
            <a:ext cx="84078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Thank you for your attention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101600" dist="38100" dir="2700000" algn="tl">
                  <a:srgbClr val="000000">
                    <a:alpha val="15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10610401" y="2907324"/>
            <a:ext cx="1581601" cy="3950678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1601" h="3181849">
                <a:moveTo>
                  <a:pt x="1581601" y="0"/>
                </a:moveTo>
                <a:lnTo>
                  <a:pt x="1581601" y="3181849"/>
                </a:lnTo>
                <a:lnTo>
                  <a:pt x="23295" y="3181849"/>
                </a:lnTo>
                <a:lnTo>
                  <a:pt x="6636" y="3006685"/>
                </a:lnTo>
                <a:cubicBezTo>
                  <a:pt x="2234" y="2937244"/>
                  <a:pt x="0" y="2867215"/>
                  <a:pt x="0" y="2796663"/>
                </a:cubicBezTo>
                <a:cubicBezTo>
                  <a:pt x="0" y="1667843"/>
                  <a:pt x="571931" y="672605"/>
                  <a:pt x="1441825" y="84916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3847621" y="5469336"/>
            <a:ext cx="6257697" cy="1432989"/>
          </a:xfrm>
          <a:custGeom>
            <a:avLst/>
            <a:gdLst>
              <a:gd name="connsiteX0" fmla="*/ 2609261 w 5218520"/>
              <a:gd name="connsiteY0" fmla="*/ 0 h 1432989"/>
              <a:gd name="connsiteX1" fmla="*/ 5157332 w 5218520"/>
              <a:gd name="connsiteY1" fmla="*/ 1333829 h 1432989"/>
              <a:gd name="connsiteX2" fmla="*/ 5218520 w 5218520"/>
              <a:gd name="connsiteY2" fmla="*/ 1432989 h 1432989"/>
              <a:gd name="connsiteX3" fmla="*/ 0 w 5218520"/>
              <a:gd name="connsiteY3" fmla="*/ 1432989 h 1432989"/>
              <a:gd name="connsiteX4" fmla="*/ 61189 w 5218520"/>
              <a:gd name="connsiteY4" fmla="*/ 1333829 h 1432989"/>
              <a:gd name="connsiteX5" fmla="*/ 2609261 w 5218520"/>
              <a:gd name="connsiteY5" fmla="*/ 0 h 1432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8520" h="1432989">
                <a:moveTo>
                  <a:pt x="2609261" y="0"/>
                </a:moveTo>
                <a:cubicBezTo>
                  <a:pt x="3669947" y="0"/>
                  <a:pt x="4605115" y="529093"/>
                  <a:pt x="5157332" y="1333829"/>
                </a:cubicBezTo>
                <a:lnTo>
                  <a:pt x="5218520" y="1432989"/>
                </a:lnTo>
                <a:lnTo>
                  <a:pt x="0" y="1432989"/>
                </a:lnTo>
                <a:lnTo>
                  <a:pt x="61189" y="1333829"/>
                </a:lnTo>
                <a:cubicBezTo>
                  <a:pt x="613405" y="529093"/>
                  <a:pt x="1548574" y="0"/>
                  <a:pt x="2609261" y="0"/>
                </a:cubicBezTo>
                <a:close/>
              </a:path>
            </a:pathLst>
          </a:custGeom>
          <a:solidFill>
            <a:srgbClr val="83C0C8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16200000" flipH="1">
            <a:off x="8352320" y="3062643"/>
            <a:ext cx="2568101" cy="5111263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  <a:gd name="connsiteX0" fmla="*/ 1575000 w 1575000"/>
              <a:gd name="connsiteY0" fmla="*/ 0 h 3181849"/>
              <a:gd name="connsiteX1" fmla="*/ 1575000 w 1575000"/>
              <a:gd name="connsiteY1" fmla="*/ 3181849 h 3181849"/>
              <a:gd name="connsiteX2" fmla="*/ 16694 w 1575000"/>
              <a:gd name="connsiteY2" fmla="*/ 3181849 h 3181849"/>
              <a:gd name="connsiteX3" fmla="*/ 35 w 1575000"/>
              <a:gd name="connsiteY3" fmla="*/ 3006685 h 3181849"/>
              <a:gd name="connsiteX4" fmla="*/ 411343 w 1575000"/>
              <a:gd name="connsiteY4" fmla="*/ 2201559 h 3181849"/>
              <a:gd name="connsiteX5" fmla="*/ 1435224 w 1575000"/>
              <a:gd name="connsiteY5" fmla="*/ 84916 h 3181849"/>
              <a:gd name="connsiteX6" fmla="*/ 1575000 w 1575000"/>
              <a:gd name="connsiteY6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94649 w 1558306"/>
              <a:gd name="connsiteY3" fmla="*/ 2201559 h 3181849"/>
              <a:gd name="connsiteX4" fmla="*/ 1418530 w 1558306"/>
              <a:gd name="connsiteY4" fmla="*/ 84916 h 3181849"/>
              <a:gd name="connsiteX5" fmla="*/ 1558306 w 1558306"/>
              <a:gd name="connsiteY5" fmla="*/ 0 h 3181849"/>
              <a:gd name="connsiteX0" fmla="*/ 1614440 w 1614440"/>
              <a:gd name="connsiteY0" fmla="*/ 0 h 3181849"/>
              <a:gd name="connsiteX1" fmla="*/ 1614440 w 1614440"/>
              <a:gd name="connsiteY1" fmla="*/ 3181849 h 3181849"/>
              <a:gd name="connsiteX2" fmla="*/ 56134 w 1614440"/>
              <a:gd name="connsiteY2" fmla="*/ 3181849 h 3181849"/>
              <a:gd name="connsiteX3" fmla="*/ 450783 w 1614440"/>
              <a:gd name="connsiteY3" fmla="*/ 2201559 h 3181849"/>
              <a:gd name="connsiteX4" fmla="*/ 1474664 w 1614440"/>
              <a:gd name="connsiteY4" fmla="*/ 84916 h 3181849"/>
              <a:gd name="connsiteX5" fmla="*/ 1614440 w 1614440"/>
              <a:gd name="connsiteY5" fmla="*/ 0 h 3181849"/>
              <a:gd name="connsiteX0" fmla="*/ 1591239 w 1591239"/>
              <a:gd name="connsiteY0" fmla="*/ 0 h 3181849"/>
              <a:gd name="connsiteX1" fmla="*/ 1591239 w 1591239"/>
              <a:gd name="connsiteY1" fmla="*/ 3181849 h 3181849"/>
              <a:gd name="connsiteX2" fmla="*/ 32933 w 1591239"/>
              <a:gd name="connsiteY2" fmla="*/ 3181849 h 3181849"/>
              <a:gd name="connsiteX3" fmla="*/ 427582 w 1591239"/>
              <a:gd name="connsiteY3" fmla="*/ 2201559 h 3181849"/>
              <a:gd name="connsiteX4" fmla="*/ 1451463 w 1591239"/>
              <a:gd name="connsiteY4" fmla="*/ 84916 h 3181849"/>
              <a:gd name="connsiteX5" fmla="*/ 1591239 w 1591239"/>
              <a:gd name="connsiteY5" fmla="*/ 0 h 3181849"/>
              <a:gd name="connsiteX0" fmla="*/ 1591239 w 1591239"/>
              <a:gd name="connsiteY0" fmla="*/ 10258 h 3192107"/>
              <a:gd name="connsiteX1" fmla="*/ 1591239 w 1591239"/>
              <a:gd name="connsiteY1" fmla="*/ 3192107 h 3192107"/>
              <a:gd name="connsiteX2" fmla="*/ 32933 w 1591239"/>
              <a:gd name="connsiteY2" fmla="*/ 3192107 h 3192107"/>
              <a:gd name="connsiteX3" fmla="*/ 427582 w 1591239"/>
              <a:gd name="connsiteY3" fmla="*/ 2211817 h 3192107"/>
              <a:gd name="connsiteX4" fmla="*/ 1591239 w 1591239"/>
              <a:gd name="connsiteY4" fmla="*/ 10258 h 3192107"/>
              <a:gd name="connsiteX0" fmla="*/ 1616804 w 1616804"/>
              <a:gd name="connsiteY0" fmla="*/ 10258 h 3192107"/>
              <a:gd name="connsiteX1" fmla="*/ 1616804 w 1616804"/>
              <a:gd name="connsiteY1" fmla="*/ 3192107 h 3192107"/>
              <a:gd name="connsiteX2" fmla="*/ 58498 w 1616804"/>
              <a:gd name="connsiteY2" fmla="*/ 3192107 h 3192107"/>
              <a:gd name="connsiteX3" fmla="*/ 453147 w 1616804"/>
              <a:gd name="connsiteY3" fmla="*/ 2211817 h 3192107"/>
              <a:gd name="connsiteX4" fmla="*/ 1616804 w 1616804"/>
              <a:gd name="connsiteY4" fmla="*/ 10258 h 3192107"/>
              <a:gd name="connsiteX0" fmla="*/ 1595354 w 1595354"/>
              <a:gd name="connsiteY0" fmla="*/ 10393 h 3192242"/>
              <a:gd name="connsiteX1" fmla="*/ 1595354 w 1595354"/>
              <a:gd name="connsiteY1" fmla="*/ 3192242 h 3192242"/>
              <a:gd name="connsiteX2" fmla="*/ 37048 w 1595354"/>
              <a:gd name="connsiteY2" fmla="*/ 3192242 h 3192242"/>
              <a:gd name="connsiteX3" fmla="*/ 431697 w 1595354"/>
              <a:gd name="connsiteY3" fmla="*/ 2211952 h 3192242"/>
              <a:gd name="connsiteX4" fmla="*/ 1595354 w 1595354"/>
              <a:gd name="connsiteY4" fmla="*/ 10393 h 3192242"/>
              <a:gd name="connsiteX0" fmla="*/ 1558306 w 1558306"/>
              <a:gd name="connsiteY0" fmla="*/ 10393 h 3192242"/>
              <a:gd name="connsiteX1" fmla="*/ 1558306 w 1558306"/>
              <a:gd name="connsiteY1" fmla="*/ 3192242 h 3192242"/>
              <a:gd name="connsiteX2" fmla="*/ 0 w 1558306"/>
              <a:gd name="connsiteY2" fmla="*/ 3192242 h 3192242"/>
              <a:gd name="connsiteX3" fmla="*/ 394649 w 1558306"/>
              <a:gd name="connsiteY3" fmla="*/ 2211952 h 3192242"/>
              <a:gd name="connsiteX4" fmla="*/ 1558306 w 1558306"/>
              <a:gd name="connsiteY4" fmla="*/ 10393 h 3192242"/>
              <a:gd name="connsiteX0" fmla="*/ 1558306 w 1558306"/>
              <a:gd name="connsiteY0" fmla="*/ 13600 h 3195449"/>
              <a:gd name="connsiteX1" fmla="*/ 1558306 w 1558306"/>
              <a:gd name="connsiteY1" fmla="*/ 3195449 h 3195449"/>
              <a:gd name="connsiteX2" fmla="*/ 0 w 1558306"/>
              <a:gd name="connsiteY2" fmla="*/ 3195449 h 3195449"/>
              <a:gd name="connsiteX3" fmla="*/ 337657 w 1558306"/>
              <a:gd name="connsiteY3" fmla="*/ 1758050 h 3195449"/>
              <a:gd name="connsiteX4" fmla="*/ 1558306 w 1558306"/>
              <a:gd name="connsiteY4" fmla="*/ 13600 h 31954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37657 w 1558306"/>
              <a:gd name="connsiteY3" fmla="*/ 1744450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8306" h="3181849">
                <a:moveTo>
                  <a:pt x="1558306" y="0"/>
                </a:moveTo>
                <a:lnTo>
                  <a:pt x="1558306" y="3181849"/>
                </a:lnTo>
                <a:lnTo>
                  <a:pt x="0" y="3181849"/>
                </a:lnTo>
                <a:cubicBezTo>
                  <a:pt x="559074" y="2664854"/>
                  <a:pt x="474375" y="2283384"/>
                  <a:pt x="430134" y="1727202"/>
                </a:cubicBezTo>
                <a:cubicBezTo>
                  <a:pt x="385893" y="1171020"/>
                  <a:pt x="566471" y="310976"/>
                  <a:pt x="1558306" y="0"/>
                </a:cubicBez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3030775">
            <a:off x="9897003" y="960039"/>
            <a:ext cx="480112" cy="480112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rot="3030775">
            <a:off x="10116977" y="3498055"/>
            <a:ext cx="279048" cy="279048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83C0C8">
              <a:alpha val="63000"/>
            </a:srgbClr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2" name="任意多边形 31"/>
          <p:cNvSpPr/>
          <p:nvPr/>
        </p:nvSpPr>
        <p:spPr>
          <a:xfrm rot="3030775">
            <a:off x="7841834" y="4592812"/>
            <a:ext cx="160482" cy="160483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F1E04F79-7178-4DFD-A68A-50A2A7BE3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44281"/>
            <a:ext cx="1969104" cy="57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59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1784</TotalTime>
  <Words>919</Words>
  <Application>Microsoft Office PowerPoint</Application>
  <PresentationFormat>宽屏</PresentationFormat>
  <Paragraphs>138</Paragraphs>
  <Slides>15</Slides>
  <Notes>3</Notes>
  <HiddenSlides>2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等线</vt:lpstr>
      <vt:lpstr>思源黑体</vt:lpstr>
      <vt:lpstr>思源宋体 CN Heavy</vt:lpstr>
      <vt:lpstr>微软雅黑</vt:lpstr>
      <vt:lpstr>Arial</vt:lpstr>
      <vt:lpstr>Calibri</vt:lpstr>
      <vt:lpstr>Consolas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工作总结</dc:title>
  <dc:creator>第一PPT，www.1ppt.com</dc:creator>
  <cp:keywords>www.1ppt.com</cp:keywords>
  <dc:description>第一PPT</dc:description>
  <cp:lastModifiedBy>Tengzhe ZHANG</cp:lastModifiedBy>
  <cp:revision>119</cp:revision>
  <dcterms:created xsi:type="dcterms:W3CDTF">2022-11-04T07:41:59Z</dcterms:created>
  <dcterms:modified xsi:type="dcterms:W3CDTF">2025-11-18T17:05:38Z</dcterms:modified>
</cp:coreProperties>
</file>